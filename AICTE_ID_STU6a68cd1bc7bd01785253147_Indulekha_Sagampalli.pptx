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57" r:id="rId4"/>
    <p:sldId id="266" r:id="rId5"/>
    <p:sldId id="261" r:id="rId6"/>
    <p:sldId id="267" r:id="rId7"/>
    <p:sldId id="262" r:id="rId8"/>
    <p:sldId id="268" r:id="rId9"/>
    <p:sldId id="269" r:id="rId10"/>
    <p:sldId id="270" r:id="rId11"/>
    <p:sldId id="259" r:id="rId12"/>
    <p:sldId id="263" r:id="rId13"/>
    <p:sldId id="271" r:id="rId14"/>
    <p:sldId id="272" r:id="rId15"/>
    <p:sldId id="273" r:id="rId16"/>
    <p:sldId id="264" r:id="rId17"/>
    <p:sldId id="274" r:id="rId18"/>
    <p:sldId id="275" r:id="rId19"/>
    <p:sldId id="265" r:id="rId20"/>
  </p:sldIdLst>
  <p:sldSz cx="18288000" cy="10287000"/>
  <p:notesSz cx="6858000" cy="9144000"/>
  <p:embeddedFontLst>
    <p:embeddedFont>
      <p:font typeface="Nunito" pitchFamily="2" charset="0"/>
      <p:regular r:id="rId21"/>
      <p:bold r:id="rId22"/>
      <p:italic r:id="rId23"/>
      <p:boldItalic r:id="rId24"/>
    </p:embeddedFont>
    <p:embeddedFont>
      <p:font typeface="Poppins" panose="00000500000000000000" pitchFamily="2" charset="0"/>
      <p:regular r:id="rId25"/>
      <p:bold r:id="rId26"/>
      <p:italic r:id="rId27"/>
      <p:boldItalic r:id="rId28"/>
    </p:embeddedFont>
    <p:embeddedFont>
      <p:font typeface="Poppins Light" panose="00000400000000000000" pitchFamily="2" charset="0"/>
      <p:regular r:id="rId29"/>
      <p:italic r:id="rId30"/>
    </p:embeddedFont>
    <p:embeddedFont>
      <p:font typeface="Proxima Nova Bold"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7464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A02B1D-832A-4156-A4FF-F3DE724BAF49}" v="4" dt="2026-08-29T11:25:35.225"/>
    <p1510:client id="{6648E68F-4F0F-49B5-B736-E19B9B5F205D}" v="432" dt="2026-08-29T11:12:22.155"/>
    <p1510:client id="{A1B981C4-4237-4EF6-B8F7-A5D61B9103C0}" v="200" dt="2026-08-29T11:19:28.717"/>
    <p1510:client id="{A36C7E2C-EFB0-48F8-9B61-27B0732518EA}" v="337" dt="2026-08-29T10:23:07.886"/>
    <p1510:client id="{E3E94FF8-B95C-49B0-BD93-A72C71F075A6}" v="1372" dt="2026-08-29T09:29:41.7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hyperlink" Target="https://colab.research.google.com/drive/1X3w5meFC9RS5fi0a3PGsbcmUGJ22le5m?usp=sharing"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3195961" y="5935345"/>
            <a:ext cx="8126677" cy="8126677"/>
          </a:xfrm>
          <a:custGeom>
            <a:avLst/>
            <a:gdLst/>
            <a:ahLst/>
            <a:cxnLst/>
            <a:rect l="l" t="t" r="r" b="b"/>
            <a:pathLst>
              <a:path w="8126677" h="8126677">
                <a:moveTo>
                  <a:pt x="0" y="0"/>
                </a:moveTo>
                <a:lnTo>
                  <a:pt x="8126678" y="0"/>
                </a:lnTo>
                <a:lnTo>
                  <a:pt x="8126678" y="8126677"/>
                </a:lnTo>
                <a:lnTo>
                  <a:pt x="0" y="812667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350137" y="-1742992"/>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994970" y="-1387826"/>
            <a:ext cx="3404467" cy="3404467"/>
          </a:xfrm>
          <a:custGeom>
            <a:avLst/>
            <a:gdLst/>
            <a:ahLst/>
            <a:cxnLst/>
            <a:rect l="l" t="t" r="r" b="b"/>
            <a:pathLst>
              <a:path w="3404467" h="3404467">
                <a:moveTo>
                  <a:pt x="0" y="0"/>
                </a:moveTo>
                <a:lnTo>
                  <a:pt x="3404466" y="0"/>
                </a:lnTo>
                <a:lnTo>
                  <a:pt x="3404466" y="3404467"/>
                </a:lnTo>
                <a:lnTo>
                  <a:pt x="0" y="340446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13897411" y="6636795"/>
            <a:ext cx="6723778" cy="6723778"/>
          </a:xfrm>
          <a:custGeom>
            <a:avLst/>
            <a:gdLst/>
            <a:ahLst/>
            <a:cxnLst/>
            <a:rect l="l" t="t" r="r" b="b"/>
            <a:pathLst>
              <a:path w="6723778" h="6723778">
                <a:moveTo>
                  <a:pt x="0" y="0"/>
                </a:moveTo>
                <a:lnTo>
                  <a:pt x="6723778" y="0"/>
                </a:lnTo>
                <a:lnTo>
                  <a:pt x="6723778" y="6723778"/>
                </a:lnTo>
                <a:lnTo>
                  <a:pt x="0" y="6723778"/>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14876906" y="7616290"/>
            <a:ext cx="4764788" cy="476478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499020" y="-891876"/>
            <a:ext cx="2412567" cy="2412567"/>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942061" y="2379311"/>
            <a:ext cx="14413022" cy="4030399"/>
          </a:xfrm>
          <a:prstGeom prst="rect">
            <a:avLst/>
          </a:prstGeom>
        </p:spPr>
        <p:txBody>
          <a:bodyPr wrap="square" lIns="0" tIns="0" rIns="0" bIns="0" rtlCol="0" anchor="ctr">
            <a:spAutoFit/>
          </a:bodyPr>
          <a:lstStyle/>
          <a:p>
            <a:pPr algn="ctr"/>
            <a:r>
              <a:rPr lang="en-US" sz="7000" b="1">
                <a:solidFill>
                  <a:srgbClr val="474646"/>
                </a:solidFill>
                <a:latin typeface="Poppins"/>
                <a:ea typeface="Proxima Nova Bold"/>
                <a:cs typeface="Poppins"/>
                <a:sym typeface="Proxima Nova Bold"/>
              </a:rPr>
              <a:t>CAR MARKET TRENDS ANALYSIS USING CARDEKHO DATA</a:t>
            </a:r>
            <a:endParaRPr lang="en-US" sz="7000" b="1">
              <a:solidFill>
                <a:srgbClr val="474646"/>
              </a:solidFill>
              <a:latin typeface="Poppins"/>
              <a:ea typeface="Proxima Nova Bold"/>
              <a:cs typeface="Poppins"/>
            </a:endParaRPr>
          </a:p>
          <a:p>
            <a:pPr algn="ctr">
              <a:lnSpc>
                <a:spcPts val="16099"/>
              </a:lnSpc>
            </a:pPr>
            <a:endParaRPr lang="en-US" sz="11450" b="1" dirty="0">
              <a:solidFill>
                <a:srgbClr val="000000"/>
              </a:solidFill>
              <a:latin typeface="Proxima Nova Bold"/>
              <a:ea typeface="Proxima Nova Bold"/>
              <a:cs typeface="Proxima Nova Bold"/>
            </a:endParaRPr>
          </a:p>
        </p:txBody>
      </p:sp>
      <p:grpSp>
        <p:nvGrpSpPr>
          <p:cNvPr id="13" name="Group 13"/>
          <p:cNvGrpSpPr/>
          <p:nvPr/>
        </p:nvGrpSpPr>
        <p:grpSpPr>
          <a:xfrm>
            <a:off x="4751603" y="5152644"/>
            <a:ext cx="8863388" cy="4343246"/>
            <a:chOff x="0" y="0"/>
            <a:chExt cx="1732710" cy="269689"/>
          </a:xfrm>
        </p:grpSpPr>
        <p:sp>
          <p:nvSpPr>
            <p:cNvPr id="14" name="Freeform 14"/>
            <p:cNvSpPr/>
            <p:nvPr/>
          </p:nvSpPr>
          <p:spPr>
            <a:xfrm>
              <a:off x="0" y="0"/>
              <a:ext cx="1732710" cy="269689"/>
            </a:xfrm>
            <a:prstGeom prst="roundRect">
              <a:avLst/>
            </a:prstGeom>
            <a:ln w="38100" cap="rnd">
              <a:solidFill>
                <a:srgbClr val="474646"/>
              </a:solidFill>
              <a:prstDash val="solid"/>
              <a:round/>
            </a:ln>
          </p:spPr>
        </p:sp>
        <p:sp>
          <p:nvSpPr>
            <p:cNvPr id="15" name="TextBox 15"/>
            <p:cNvSpPr txBox="1"/>
            <p:nvPr/>
          </p:nvSpPr>
          <p:spPr>
            <a:xfrm>
              <a:off x="0" y="-38100"/>
              <a:ext cx="1732710" cy="307789"/>
            </a:xfrm>
            <a:prstGeom prst="roundRect">
              <a:avLst/>
            </a:prstGeom>
          </p:spPr>
          <p:txBody>
            <a:bodyPr lIns="50800" tIns="50800" rIns="50800" bIns="50800" rtlCol="0" anchor="ctr"/>
            <a:lstStyle/>
            <a:p>
              <a:pPr algn="ctr">
                <a:lnSpc>
                  <a:spcPts val="2659"/>
                </a:lnSpc>
              </a:pPr>
              <a:endParaRPr b="1"/>
            </a:p>
          </p:txBody>
        </p:sp>
      </p:grpSp>
      <p:sp>
        <p:nvSpPr>
          <p:cNvPr id="16" name="TextBox 16"/>
          <p:cNvSpPr txBox="1"/>
          <p:nvPr/>
        </p:nvSpPr>
        <p:spPr>
          <a:xfrm>
            <a:off x="4955882" y="5532950"/>
            <a:ext cx="8385380" cy="4164602"/>
          </a:xfrm>
          <a:prstGeom prst="rect">
            <a:avLst/>
          </a:prstGeom>
        </p:spPr>
        <p:txBody>
          <a:bodyPr wrap="square" lIns="0" tIns="0" rIns="0" bIns="0" rtlCol="0" anchor="t">
            <a:spAutoFit/>
          </a:bodyPr>
          <a:lstStyle/>
          <a:p>
            <a:pPr algn="ctr">
              <a:lnSpc>
                <a:spcPts val="1800"/>
              </a:lnSpc>
            </a:pPr>
            <a:r>
              <a:rPr lang="en-US" sz="2500" b="1">
                <a:solidFill>
                  <a:srgbClr val="474646"/>
                </a:solidFill>
                <a:latin typeface="Nunito"/>
                <a:ea typeface="Calibri"/>
                <a:cs typeface="Poppins"/>
              </a:rPr>
              <a:t>SUBMITTED BY:</a:t>
            </a:r>
            <a:endParaRPr lang="en-US" sz="2500" b="1" dirty="0">
              <a:solidFill>
                <a:srgbClr val="474646"/>
              </a:solidFill>
              <a:latin typeface="Nunito"/>
              <a:ea typeface="Calibri"/>
              <a:cs typeface="Poppins"/>
            </a:endParaRPr>
          </a:p>
          <a:p>
            <a:pPr algn="ctr">
              <a:lnSpc>
                <a:spcPts val="1800"/>
              </a:lnSpc>
            </a:pPr>
            <a:endParaRPr lang="en-US" sz="2500" b="1" dirty="0">
              <a:solidFill>
                <a:srgbClr val="474646"/>
              </a:solidFill>
              <a:latin typeface="Nunito"/>
              <a:ea typeface="Calibri"/>
              <a:cs typeface="Poppins"/>
            </a:endParaRPr>
          </a:p>
          <a:p>
            <a:pPr algn="ctr">
              <a:lnSpc>
                <a:spcPts val="1800"/>
              </a:lnSpc>
            </a:pPr>
            <a:endParaRPr lang="en-US" sz="2500" b="1" dirty="0">
              <a:solidFill>
                <a:srgbClr val="474646"/>
              </a:solidFill>
              <a:latin typeface="Nunito"/>
              <a:ea typeface="Calibri"/>
              <a:cs typeface="Poppins"/>
            </a:endParaRPr>
          </a:p>
          <a:p>
            <a:pPr algn="ctr">
              <a:lnSpc>
                <a:spcPts val="1800"/>
              </a:lnSpc>
            </a:pPr>
            <a:r>
              <a:rPr lang="en-US" sz="2500" b="1" dirty="0">
                <a:solidFill>
                  <a:srgbClr val="474646"/>
                </a:solidFill>
                <a:latin typeface="Nunito"/>
                <a:ea typeface="Calibri"/>
                <a:cs typeface="Poppins"/>
              </a:rPr>
              <a:t>Indulekha </a:t>
            </a:r>
            <a:r>
              <a:rPr lang="en-US" sz="2500" b="1" dirty="0" err="1">
                <a:solidFill>
                  <a:srgbClr val="474646"/>
                </a:solidFill>
                <a:latin typeface="Nunito"/>
                <a:ea typeface="Calibri"/>
                <a:cs typeface="Poppins"/>
              </a:rPr>
              <a:t>Sagampalli</a:t>
            </a:r>
          </a:p>
          <a:p>
            <a:pPr algn="ctr">
              <a:lnSpc>
                <a:spcPts val="1800"/>
              </a:lnSpc>
            </a:pPr>
            <a:endParaRPr lang="en-US" sz="2500" b="1" dirty="0">
              <a:solidFill>
                <a:srgbClr val="474646"/>
              </a:solidFill>
              <a:latin typeface="Nunito"/>
              <a:ea typeface="Calibri"/>
              <a:cs typeface="Poppins"/>
            </a:endParaRPr>
          </a:p>
          <a:p>
            <a:pPr algn="ctr">
              <a:lnSpc>
                <a:spcPts val="1800"/>
              </a:lnSpc>
            </a:pPr>
            <a:endParaRPr lang="en-US" sz="2500" b="1" dirty="0">
              <a:solidFill>
                <a:srgbClr val="474646"/>
              </a:solidFill>
              <a:latin typeface="Nunito"/>
              <a:ea typeface="Calibri"/>
              <a:cs typeface="Poppins"/>
            </a:endParaRPr>
          </a:p>
          <a:p>
            <a:pPr algn="ctr">
              <a:lnSpc>
                <a:spcPts val="1800"/>
              </a:lnSpc>
            </a:pPr>
            <a:r>
              <a:rPr lang="en-US" sz="2500" b="1">
                <a:solidFill>
                  <a:srgbClr val="474646"/>
                </a:solidFill>
                <a:latin typeface="Nunito"/>
                <a:ea typeface="Calibri"/>
                <a:cs typeface="Poppins"/>
              </a:rPr>
              <a:t>COLLEGE NAME: Jawaharlal Nehru New College</a:t>
            </a:r>
            <a:endParaRPr lang="en-US" sz="2500" b="1" dirty="0">
              <a:solidFill>
                <a:srgbClr val="474646"/>
              </a:solidFill>
              <a:latin typeface="Nunito"/>
              <a:ea typeface="Calibri"/>
              <a:cs typeface="Poppins"/>
            </a:endParaRPr>
          </a:p>
          <a:p>
            <a:pPr algn="ctr">
              <a:lnSpc>
                <a:spcPts val="1800"/>
              </a:lnSpc>
            </a:pPr>
            <a:endParaRPr lang="en-US" sz="2500" b="1" dirty="0">
              <a:solidFill>
                <a:srgbClr val="474646"/>
              </a:solidFill>
              <a:latin typeface="Nunito"/>
              <a:ea typeface="Calibri"/>
              <a:cs typeface="Poppins"/>
            </a:endParaRPr>
          </a:p>
          <a:p>
            <a:pPr algn="ctr">
              <a:lnSpc>
                <a:spcPts val="1800"/>
              </a:lnSpc>
            </a:pPr>
            <a:r>
              <a:rPr lang="en-US" sz="2500" b="1">
                <a:solidFill>
                  <a:srgbClr val="474646"/>
                </a:solidFill>
                <a:latin typeface="Nunito"/>
                <a:ea typeface="Calibri"/>
                <a:cs typeface="Poppins"/>
              </a:rPr>
              <a:t>Of Engineering</a:t>
            </a:r>
            <a:endParaRPr lang="en-US" sz="2500" b="1" dirty="0">
              <a:solidFill>
                <a:srgbClr val="474646"/>
              </a:solidFill>
              <a:latin typeface="Nunito"/>
              <a:ea typeface="Calibri"/>
              <a:cs typeface="Poppins"/>
            </a:endParaRPr>
          </a:p>
          <a:p>
            <a:pPr algn="ctr">
              <a:lnSpc>
                <a:spcPts val="1800"/>
              </a:lnSpc>
            </a:pPr>
            <a:endParaRPr lang="en-US" sz="2500" b="1" dirty="0">
              <a:solidFill>
                <a:srgbClr val="474646"/>
              </a:solidFill>
              <a:latin typeface="Nunito"/>
              <a:ea typeface="Calibri"/>
              <a:cs typeface="Poppins"/>
            </a:endParaRPr>
          </a:p>
          <a:p>
            <a:pPr algn="ctr">
              <a:lnSpc>
                <a:spcPts val="1800"/>
              </a:lnSpc>
            </a:pPr>
            <a:endParaRPr lang="en-US" sz="2500" b="1" dirty="0">
              <a:solidFill>
                <a:srgbClr val="474646"/>
              </a:solidFill>
              <a:latin typeface="Nunito"/>
              <a:ea typeface="Calibri"/>
              <a:cs typeface="Poppins"/>
            </a:endParaRPr>
          </a:p>
          <a:p>
            <a:pPr algn="ctr">
              <a:lnSpc>
                <a:spcPts val="1800"/>
              </a:lnSpc>
            </a:pPr>
            <a:r>
              <a:rPr lang="en-US" sz="2500" b="1">
                <a:solidFill>
                  <a:srgbClr val="474646"/>
                </a:solidFill>
                <a:latin typeface="Nunito"/>
                <a:ea typeface="Calibri"/>
                <a:cs typeface="Poppins"/>
              </a:rPr>
              <a:t>USN: 4JN24CD014</a:t>
            </a:r>
            <a:endParaRPr lang="en-US" sz="2500" b="1" dirty="0">
              <a:solidFill>
                <a:srgbClr val="474646"/>
              </a:solidFill>
              <a:latin typeface="Nunito"/>
              <a:ea typeface="Calibri"/>
              <a:cs typeface="Poppins"/>
            </a:endParaRPr>
          </a:p>
          <a:p>
            <a:pPr algn="ctr">
              <a:lnSpc>
                <a:spcPts val="1800"/>
              </a:lnSpc>
            </a:pPr>
            <a:endParaRPr lang="en-US" sz="2500" b="1" dirty="0">
              <a:solidFill>
                <a:srgbClr val="474646"/>
              </a:solidFill>
              <a:latin typeface="Nunito"/>
              <a:ea typeface="Calibri"/>
              <a:cs typeface="Poppins"/>
            </a:endParaRPr>
          </a:p>
          <a:p>
            <a:pPr algn="ctr">
              <a:lnSpc>
                <a:spcPts val="1800"/>
              </a:lnSpc>
            </a:pPr>
            <a:endParaRPr lang="en-US" sz="2500" b="1" dirty="0">
              <a:solidFill>
                <a:srgbClr val="474646"/>
              </a:solidFill>
              <a:latin typeface="Nunito"/>
              <a:ea typeface="Calibri"/>
              <a:cs typeface="Poppins"/>
            </a:endParaRPr>
          </a:p>
          <a:p>
            <a:pPr algn="ctr">
              <a:lnSpc>
                <a:spcPts val="1800"/>
              </a:lnSpc>
            </a:pPr>
            <a:r>
              <a:rPr lang="en-US" sz="2500" b="1">
                <a:solidFill>
                  <a:srgbClr val="474646"/>
                </a:solidFill>
                <a:latin typeface="Nunito"/>
                <a:ea typeface="Calibri"/>
                <a:cs typeface="Poppins"/>
              </a:rPr>
              <a:t>AICTE ID: </a:t>
            </a:r>
            <a:r>
              <a:rPr lang="en-US" sz="2500" b="1">
                <a:solidFill>
                  <a:srgbClr val="474646"/>
                </a:solidFill>
                <a:latin typeface="Nunito"/>
                <a:ea typeface="Calibri"/>
                <a:cs typeface="Calibri"/>
              </a:rPr>
              <a:t>STU6a68cd1bc7bd01785253147</a:t>
            </a:r>
          </a:p>
          <a:p>
            <a:pPr algn="ctr">
              <a:lnSpc>
                <a:spcPts val="6299"/>
              </a:lnSpc>
            </a:pPr>
            <a:endParaRPr lang="en-US" sz="2500" dirty="0">
              <a:solidFill>
                <a:srgbClr val="000000"/>
              </a:solidFill>
              <a:latin typeface="Nunito"/>
              <a:ea typeface="Nunito"/>
              <a:cs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2448340" y="1056718"/>
            <a:ext cx="13400464" cy="1469248"/>
          </a:xfrm>
          <a:prstGeom prst="rect">
            <a:avLst/>
          </a:prstGeom>
        </p:spPr>
        <p:txBody>
          <a:bodyPr wrap="square" lIns="0" tIns="0" rIns="0" bIns="0" rtlCol="0" anchor="t">
            <a:spAutoFit/>
          </a:bodyPr>
          <a:lstStyle/>
          <a:p>
            <a:pPr algn="ctr">
              <a:lnSpc>
                <a:spcPts val="12599"/>
              </a:lnSpc>
            </a:pPr>
            <a:r>
              <a:rPr lang="en-US" sz="9000" b="1">
                <a:solidFill>
                  <a:srgbClr val="474646"/>
                </a:solidFill>
                <a:latin typeface="Proxima Nova Bold"/>
                <a:ea typeface="Proxima Nova Bold"/>
                <a:cs typeface="Proxima Nova Bold"/>
              </a:rPr>
              <a:t>TABLE OF CONTENTS</a:t>
            </a:r>
          </a:p>
        </p:txBody>
      </p:sp>
      <p:sp>
        <p:nvSpPr>
          <p:cNvPr id="6" name="Freeform 6"/>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8" name="Group 8"/>
          <p:cNvGrpSpPr/>
          <p:nvPr/>
        </p:nvGrpSpPr>
        <p:grpSpPr>
          <a:xfrm>
            <a:off x="12319137" y="9258300"/>
            <a:ext cx="3911463" cy="391146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2" name="Freeform 12"/>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3" name="Group 13"/>
          <p:cNvGrpSpPr/>
          <p:nvPr/>
        </p:nvGrpSpPr>
        <p:grpSpPr>
          <a:xfrm>
            <a:off x="2129385" y="-2859528"/>
            <a:ext cx="3911463" cy="3911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4">
            <a:extLst>
              <a:ext uri="{FF2B5EF4-FFF2-40B4-BE49-F238E27FC236}">
                <a16:creationId xmlns:a16="http://schemas.microsoft.com/office/drawing/2014/main" id="{EE1BB4E3-F654-CB0F-D29D-47922CAA6F84}"/>
              </a:ext>
            </a:extLst>
          </p:cNvPr>
          <p:cNvSpPr txBox="1"/>
          <p:nvPr/>
        </p:nvSpPr>
        <p:spPr>
          <a:xfrm>
            <a:off x="4075859" y="2573247"/>
            <a:ext cx="10138961" cy="74328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700" b="1">
                <a:solidFill>
                  <a:srgbClr val="474646"/>
                </a:solidFill>
                <a:latin typeface="Nunito"/>
                <a:ea typeface="+mn-lt"/>
                <a:cs typeface="+mn-lt"/>
              </a:rPr>
              <a:t>1.Problem Statement</a:t>
            </a:r>
            <a:endParaRPr lang="en-US" sz="2700" b="1" dirty="0">
              <a:solidFill>
                <a:srgbClr val="474646"/>
              </a:solidFill>
              <a:latin typeface="Nunito"/>
              <a:ea typeface="+mn-lt"/>
              <a:cs typeface="+mn-lt"/>
            </a:endParaRPr>
          </a:p>
          <a:p>
            <a:pPr algn="ctr"/>
            <a:endParaRPr lang="en-US" sz="2700" dirty="0">
              <a:solidFill>
                <a:srgbClr val="474646"/>
              </a:solidFill>
              <a:ea typeface="Calibri"/>
              <a:cs typeface="Calibri"/>
            </a:endParaRPr>
          </a:p>
          <a:p>
            <a:pPr algn="ctr"/>
            <a:r>
              <a:rPr lang="en-US" sz="2700" b="1">
                <a:solidFill>
                  <a:srgbClr val="474646"/>
                </a:solidFill>
                <a:latin typeface="Nunito"/>
                <a:ea typeface="+mn-lt"/>
                <a:cs typeface="+mn-lt"/>
              </a:rPr>
              <a:t>2.Project Description</a:t>
            </a:r>
            <a:endParaRPr lang="en-US" sz="2700" b="1" dirty="0">
              <a:solidFill>
                <a:srgbClr val="474646"/>
              </a:solidFill>
              <a:latin typeface="Nunito"/>
              <a:ea typeface="+mn-lt"/>
              <a:cs typeface="+mn-lt"/>
            </a:endParaRPr>
          </a:p>
          <a:p>
            <a:pPr algn="ctr"/>
            <a:endParaRPr lang="en-US" sz="2700" dirty="0">
              <a:ea typeface="Calibri"/>
              <a:cs typeface="Calibri"/>
            </a:endParaRPr>
          </a:p>
          <a:p>
            <a:pPr algn="ctr"/>
            <a:r>
              <a:rPr lang="en-US" sz="2700" b="1">
                <a:solidFill>
                  <a:srgbClr val="474646"/>
                </a:solidFill>
                <a:latin typeface="Nunito"/>
                <a:ea typeface="+mn-lt"/>
                <a:cs typeface="+mn-lt"/>
              </a:rPr>
              <a:t>3.Who are the End Users?</a:t>
            </a:r>
            <a:endParaRPr lang="en-US" sz="2700" b="1" dirty="0">
              <a:solidFill>
                <a:srgbClr val="474646"/>
              </a:solidFill>
              <a:latin typeface="Nunito"/>
              <a:ea typeface="+mn-lt"/>
              <a:cs typeface="+mn-lt"/>
            </a:endParaRPr>
          </a:p>
          <a:p>
            <a:pPr algn="ctr"/>
            <a:endParaRPr lang="en-US" sz="2700" b="1" dirty="0">
              <a:solidFill>
                <a:srgbClr val="474646"/>
              </a:solidFill>
              <a:latin typeface="Nunito"/>
              <a:ea typeface="+mn-lt"/>
              <a:cs typeface="+mn-lt"/>
            </a:endParaRPr>
          </a:p>
          <a:p>
            <a:pPr algn="ctr"/>
            <a:r>
              <a:rPr lang="en-US" sz="2700" b="1">
                <a:solidFill>
                  <a:srgbClr val="474646"/>
                </a:solidFill>
                <a:latin typeface="Nunito"/>
                <a:ea typeface="+mn-lt"/>
                <a:cs typeface="+mn-lt"/>
              </a:rPr>
              <a:t>4.Technology Used</a:t>
            </a:r>
            <a:r>
              <a:rPr lang="en-US" sz="2700" dirty="0">
                <a:solidFill>
                  <a:srgbClr val="474646"/>
                </a:solidFill>
                <a:latin typeface="Nunito"/>
                <a:ea typeface="+mn-lt"/>
                <a:cs typeface="+mn-lt"/>
              </a:rPr>
              <a:t> </a:t>
            </a:r>
          </a:p>
          <a:p>
            <a:pPr algn="ctr"/>
            <a:endParaRPr lang="en-US" sz="2700" dirty="0">
              <a:solidFill>
                <a:srgbClr val="474646"/>
              </a:solidFill>
              <a:latin typeface="Nunito"/>
              <a:ea typeface="+mn-lt"/>
              <a:cs typeface="+mn-lt"/>
            </a:endParaRPr>
          </a:p>
          <a:p>
            <a:pPr algn="ctr"/>
            <a:r>
              <a:rPr lang="en-US" sz="2700" b="1">
                <a:solidFill>
                  <a:srgbClr val="474646"/>
                </a:solidFill>
                <a:latin typeface="Nunito"/>
                <a:ea typeface="+mn-lt"/>
                <a:cs typeface="+mn-lt"/>
              </a:rPr>
              <a:t>5.Data Cleaning</a:t>
            </a:r>
            <a:r>
              <a:rPr lang="en-US" sz="2700" dirty="0">
                <a:solidFill>
                  <a:srgbClr val="474646"/>
                </a:solidFill>
                <a:latin typeface="Nunito"/>
                <a:ea typeface="+mn-lt"/>
                <a:cs typeface="+mn-lt"/>
              </a:rPr>
              <a:t> </a:t>
            </a:r>
          </a:p>
          <a:p>
            <a:pPr algn="ctr"/>
            <a:endParaRPr lang="en-US" sz="2700" dirty="0">
              <a:solidFill>
                <a:srgbClr val="474646"/>
              </a:solidFill>
              <a:latin typeface="Nunito"/>
              <a:ea typeface="+mn-lt"/>
              <a:cs typeface="+mn-lt"/>
            </a:endParaRPr>
          </a:p>
          <a:p>
            <a:pPr algn="ctr"/>
            <a:r>
              <a:rPr lang="en-US" sz="2700" b="1">
                <a:solidFill>
                  <a:srgbClr val="474646"/>
                </a:solidFill>
                <a:latin typeface="Nunito"/>
                <a:ea typeface="+mn-lt"/>
                <a:cs typeface="+mn-lt"/>
              </a:rPr>
              <a:t>6.Exploratory Data Analysis</a:t>
            </a:r>
            <a:r>
              <a:rPr lang="en-US" sz="2700" dirty="0">
                <a:solidFill>
                  <a:srgbClr val="474646"/>
                </a:solidFill>
                <a:latin typeface="Nunito"/>
                <a:ea typeface="+mn-lt"/>
                <a:cs typeface="+mn-lt"/>
              </a:rPr>
              <a:t> </a:t>
            </a:r>
          </a:p>
          <a:p>
            <a:pPr algn="ctr"/>
            <a:endParaRPr lang="en-US" sz="2700" dirty="0">
              <a:solidFill>
                <a:srgbClr val="474646"/>
              </a:solidFill>
              <a:latin typeface="Nunito"/>
              <a:ea typeface="+mn-lt"/>
              <a:cs typeface="+mn-lt"/>
            </a:endParaRPr>
          </a:p>
          <a:p>
            <a:pPr algn="ctr"/>
            <a:r>
              <a:rPr lang="en-US" sz="2700" b="1">
                <a:solidFill>
                  <a:srgbClr val="474646"/>
                </a:solidFill>
                <a:latin typeface="Nunito"/>
                <a:ea typeface="+mn-lt"/>
                <a:cs typeface="+mn-lt"/>
              </a:rPr>
              <a:t>7.Data Visualization &amp; Analysis</a:t>
            </a:r>
            <a:r>
              <a:rPr lang="en-US" sz="2700" dirty="0">
                <a:solidFill>
                  <a:srgbClr val="474646"/>
                </a:solidFill>
                <a:latin typeface="Nunito"/>
                <a:ea typeface="+mn-lt"/>
                <a:cs typeface="+mn-lt"/>
              </a:rPr>
              <a:t> </a:t>
            </a:r>
          </a:p>
          <a:p>
            <a:pPr algn="ctr"/>
            <a:endParaRPr lang="en-US" sz="2700" dirty="0">
              <a:solidFill>
                <a:srgbClr val="474646"/>
              </a:solidFill>
              <a:latin typeface="Nunito"/>
              <a:ea typeface="+mn-lt"/>
              <a:cs typeface="+mn-lt"/>
            </a:endParaRPr>
          </a:p>
          <a:p>
            <a:pPr algn="ctr"/>
            <a:r>
              <a:rPr lang="en-US" sz="2700" b="1">
                <a:solidFill>
                  <a:srgbClr val="474646"/>
                </a:solidFill>
                <a:latin typeface="Nunito"/>
                <a:ea typeface="+mn-lt"/>
                <a:cs typeface="+mn-lt"/>
              </a:rPr>
              <a:t>8.Results &amp; Key Insights</a:t>
            </a:r>
            <a:r>
              <a:rPr lang="en-US" sz="2700" dirty="0">
                <a:solidFill>
                  <a:srgbClr val="474646"/>
                </a:solidFill>
                <a:latin typeface="Nunito"/>
                <a:ea typeface="+mn-lt"/>
                <a:cs typeface="+mn-lt"/>
              </a:rPr>
              <a:t> </a:t>
            </a:r>
          </a:p>
          <a:p>
            <a:pPr algn="ctr"/>
            <a:endParaRPr lang="en-US" sz="2700" dirty="0">
              <a:solidFill>
                <a:srgbClr val="474646"/>
              </a:solidFill>
              <a:latin typeface="Nunito"/>
              <a:ea typeface="+mn-lt"/>
              <a:cs typeface="+mn-lt"/>
            </a:endParaRPr>
          </a:p>
          <a:p>
            <a:pPr algn="ctr"/>
            <a:r>
              <a:rPr lang="en-US" sz="2700" b="1">
                <a:solidFill>
                  <a:srgbClr val="474646"/>
                </a:solidFill>
                <a:latin typeface="Nunito"/>
                <a:ea typeface="+mn-lt"/>
                <a:cs typeface="+mn-lt"/>
              </a:rPr>
              <a:t>9.Conclusion</a:t>
            </a:r>
            <a:endParaRPr lang="en-US" sz="2700" dirty="0">
              <a:solidFill>
                <a:srgbClr val="474646"/>
              </a:solidFill>
              <a:latin typeface="Nunito"/>
              <a:ea typeface="+mn-lt"/>
              <a:cs typeface="+mn-lt"/>
            </a:endParaRPr>
          </a:p>
          <a:p>
            <a:pPr algn="l"/>
            <a:endParaRPr lang="en-US" dirty="0">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2538123" y="1102359"/>
            <a:ext cx="13211751" cy="1469248"/>
          </a:xfrm>
          <a:prstGeom prst="rect">
            <a:avLst/>
          </a:prstGeom>
        </p:spPr>
        <p:txBody>
          <a:bodyPr wrap="square" lIns="0" tIns="0" rIns="0" bIns="0" rtlCol="0" anchor="t">
            <a:spAutoFit/>
          </a:bodyPr>
          <a:lstStyle/>
          <a:p>
            <a:pPr algn="ctr">
              <a:lnSpc>
                <a:spcPts val="12599"/>
              </a:lnSpc>
            </a:pPr>
            <a:r>
              <a:rPr lang="en-US" sz="9000" b="1">
                <a:solidFill>
                  <a:srgbClr val="474646"/>
                </a:solidFill>
                <a:latin typeface="Proxima Nova Bold"/>
                <a:ea typeface="Proxima Nova Bold"/>
                <a:cs typeface="Proxima Nova Bold"/>
              </a:rPr>
              <a:t>PROBLEM STATEMENT</a:t>
            </a:r>
          </a:p>
        </p:txBody>
      </p:sp>
      <p:sp>
        <p:nvSpPr>
          <p:cNvPr id="5" name="TextBox 5"/>
          <p:cNvSpPr txBox="1"/>
          <p:nvPr/>
        </p:nvSpPr>
        <p:spPr>
          <a:xfrm>
            <a:off x="1289749" y="2855268"/>
            <a:ext cx="11241061" cy="6713376"/>
          </a:xfrm>
          <a:prstGeom prst="rect">
            <a:avLst/>
          </a:prstGeom>
        </p:spPr>
        <p:txBody>
          <a:bodyPr wrap="square" lIns="0" tIns="0" rIns="0" bIns="0" rtlCol="0" anchor="t">
            <a:spAutoFit/>
          </a:bodyPr>
          <a:lstStyle/>
          <a:p>
            <a:pPr algn="just"/>
            <a:r>
              <a:rPr lang="en-US" sz="2700" b="1" dirty="0">
                <a:solidFill>
                  <a:srgbClr val="474646"/>
                </a:solidFill>
                <a:latin typeface="Nunito"/>
                <a:ea typeface="Nunito"/>
                <a:cs typeface="Poppins Light"/>
                <a:sym typeface="Nunito"/>
              </a:rPr>
              <a:t>The used-car market is influenced by several factors such as the car's age, current price, kilometers driven, fuel type, seller type, transmission, and previous ownership. However, it can be </a:t>
            </a:r>
            <a:r>
              <a:rPr lang="en-US" sz="2700" b="1">
                <a:solidFill>
                  <a:srgbClr val="474646"/>
                </a:solidFill>
                <a:latin typeface="Nunito"/>
                <a:ea typeface="Nunito"/>
                <a:cs typeface="Poppins Light"/>
                <a:sym typeface="Nunito"/>
              </a:rPr>
              <a:t>difficult to</a:t>
            </a:r>
            <a:r>
              <a:rPr lang="en-US" sz="2700" b="1" dirty="0">
                <a:solidFill>
                  <a:srgbClr val="474646"/>
                </a:solidFill>
                <a:latin typeface="Nunito"/>
                <a:ea typeface="Nunito"/>
                <a:cs typeface="Poppins Light"/>
                <a:sym typeface="Nunito"/>
              </a:rPr>
              <a:t> understand how these factors affect the resale value of a car.</a:t>
            </a:r>
            <a:endParaRPr lang="en-US" sz="2700" dirty="0">
              <a:solidFill>
                <a:srgbClr val="474646"/>
              </a:solidFill>
              <a:latin typeface="Nunito"/>
              <a:ea typeface="Nunito"/>
              <a:cs typeface="Poppins Light"/>
            </a:endParaRPr>
          </a:p>
          <a:p>
            <a:pPr algn="just"/>
            <a:endParaRPr lang="en-US" sz="2700" dirty="0">
              <a:solidFill>
                <a:srgbClr val="474646"/>
              </a:solidFill>
              <a:latin typeface="Nunito"/>
              <a:ea typeface="Nunito"/>
              <a:cs typeface="Poppins Light"/>
            </a:endParaRPr>
          </a:p>
          <a:p>
            <a:pPr algn="just"/>
            <a:r>
              <a:rPr lang="en-US" sz="2700" b="1" dirty="0">
                <a:solidFill>
                  <a:srgbClr val="474646"/>
                </a:solidFill>
                <a:latin typeface="Nunito"/>
                <a:ea typeface="Nunito"/>
                <a:cs typeface="Poppins Light"/>
                <a:sym typeface="Nunito"/>
              </a:rPr>
              <a:t>This project aims to analyze </a:t>
            </a:r>
            <a:r>
              <a:rPr lang="en-US" sz="2700" b="1" dirty="0" err="1">
                <a:solidFill>
                  <a:srgbClr val="474646"/>
                </a:solidFill>
                <a:latin typeface="Nunito"/>
                <a:ea typeface="Nunito"/>
                <a:cs typeface="Poppins Light"/>
                <a:sym typeface="Nunito"/>
              </a:rPr>
              <a:t>CarDekho</a:t>
            </a:r>
            <a:r>
              <a:rPr lang="en-US" sz="2700" b="1" dirty="0">
                <a:solidFill>
                  <a:srgbClr val="474646"/>
                </a:solidFill>
                <a:latin typeface="Nunito"/>
                <a:ea typeface="Nunito"/>
                <a:cs typeface="Poppins Light"/>
                <a:sym typeface="Nunito"/>
              </a:rPr>
              <a:t> car data to identify market trends and understand the factors that influence the selling price of used cars. The analysis will use data visualization and statistical techniques to discover useful patterns that can help buyers, sellers, and car dealers make better decisions.</a:t>
            </a:r>
            <a:endParaRPr lang="en-US" sz="2700" dirty="0">
              <a:solidFill>
                <a:srgbClr val="474646"/>
              </a:solidFill>
              <a:latin typeface="Nunito"/>
              <a:ea typeface="Nunito"/>
              <a:cs typeface="Poppins Light"/>
            </a:endParaRPr>
          </a:p>
          <a:p>
            <a:pPr algn="just"/>
            <a:endParaRPr lang="en-US" sz="2700" dirty="0">
              <a:solidFill>
                <a:srgbClr val="474646"/>
              </a:solidFill>
              <a:latin typeface="Nunito"/>
              <a:ea typeface="Nunito"/>
              <a:cs typeface="Poppins Light"/>
            </a:endParaRPr>
          </a:p>
          <a:p>
            <a:pPr algn="just"/>
            <a:r>
              <a:rPr lang="en-US" sz="2700" b="1" dirty="0">
                <a:solidFill>
                  <a:srgbClr val="474646"/>
                </a:solidFill>
                <a:latin typeface="Nunito"/>
                <a:ea typeface="Nunito"/>
                <a:cs typeface="Poppins Light"/>
                <a:sym typeface="Nunito"/>
              </a:rPr>
              <a:t>By studying the relationships between these different </a:t>
            </a:r>
            <a:r>
              <a:rPr lang="en-US" sz="2700" b="1">
                <a:solidFill>
                  <a:srgbClr val="474646"/>
                </a:solidFill>
                <a:latin typeface="Nunito"/>
                <a:ea typeface="Nunito"/>
                <a:cs typeface="Poppins Light"/>
                <a:sym typeface="Nunito"/>
              </a:rPr>
              <a:t>attributes, the</a:t>
            </a:r>
            <a:r>
              <a:rPr lang="en-US" sz="2700" b="1" dirty="0">
                <a:solidFill>
                  <a:srgbClr val="474646"/>
                </a:solidFill>
                <a:latin typeface="Nunito"/>
                <a:ea typeface="Nunito"/>
                <a:cs typeface="Poppins Light"/>
                <a:sym typeface="Nunito"/>
              </a:rPr>
              <a:t> project can provide insights into car pricing patterns, </a:t>
            </a:r>
            <a:r>
              <a:rPr lang="en-US" sz="2700" b="1">
                <a:solidFill>
                  <a:srgbClr val="474646"/>
                </a:solidFill>
                <a:latin typeface="Nunito"/>
                <a:ea typeface="Nunito"/>
                <a:cs typeface="Poppins Light"/>
                <a:sym typeface="Nunito"/>
              </a:rPr>
              <a:t>helping users</a:t>
            </a:r>
            <a:r>
              <a:rPr lang="en-US" sz="2700" b="1" dirty="0">
                <a:solidFill>
                  <a:srgbClr val="474646"/>
                </a:solidFill>
                <a:latin typeface="Nunito"/>
                <a:ea typeface="Nunito"/>
                <a:cs typeface="Poppins Light"/>
                <a:sym typeface="Nunito"/>
              </a:rPr>
              <a:t> better </a:t>
            </a:r>
            <a:r>
              <a:rPr lang="en-US" sz="2700" b="1">
                <a:solidFill>
                  <a:srgbClr val="474646"/>
                </a:solidFill>
                <a:latin typeface="Nunito"/>
                <a:ea typeface="Nunito"/>
                <a:cs typeface="Poppins Light"/>
                <a:sym typeface="Nunito"/>
              </a:rPr>
              <a:t>understand the factors that contribute to the value of a</a:t>
            </a:r>
            <a:r>
              <a:rPr lang="en-US" sz="2700" b="1" dirty="0">
                <a:solidFill>
                  <a:srgbClr val="474646"/>
                </a:solidFill>
                <a:latin typeface="Nunito"/>
                <a:ea typeface="Nunito"/>
                <a:cs typeface="Poppins Light"/>
                <a:sym typeface="Nunito"/>
              </a:rPr>
              <a:t> used vehicle.</a:t>
            </a:r>
            <a:endParaRPr lang="en-US" sz="2700" dirty="0">
              <a:solidFill>
                <a:srgbClr val="474646"/>
              </a:solidFill>
              <a:latin typeface="Nunito"/>
              <a:ea typeface="Nunito"/>
              <a:cs typeface="Poppins Light"/>
            </a:endParaRPr>
          </a:p>
          <a:p>
            <a:pPr algn="ctr">
              <a:lnSpc>
                <a:spcPts val="3919"/>
              </a:lnSpc>
            </a:pPr>
            <a:endParaRPr lang="en-US" sz="2750" dirty="0">
              <a:solidFill>
                <a:srgbClr val="000000"/>
              </a:solidFill>
              <a:latin typeface="Nunito"/>
              <a:ea typeface="Nunito"/>
              <a:cs typeface="Nunito"/>
            </a:endParaRPr>
          </a:p>
        </p:txBody>
      </p:sp>
      <p:sp>
        <p:nvSpPr>
          <p:cNvPr id="6" name="Freeform 6"/>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8" name="Group 8"/>
          <p:cNvGrpSpPr/>
          <p:nvPr/>
        </p:nvGrpSpPr>
        <p:grpSpPr>
          <a:xfrm>
            <a:off x="12319137" y="9258300"/>
            <a:ext cx="3911463" cy="391146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2" name="Freeform 12"/>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3" name="Group 13"/>
          <p:cNvGrpSpPr/>
          <p:nvPr/>
        </p:nvGrpSpPr>
        <p:grpSpPr>
          <a:xfrm>
            <a:off x="2129385" y="-2859528"/>
            <a:ext cx="3911463" cy="3911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pic>
        <p:nvPicPr>
          <p:cNvPr id="16" name="Picture 15" descr="CarDekho: Buy New &amp; Used Cars - Apps on Google Play">
            <a:extLst>
              <a:ext uri="{FF2B5EF4-FFF2-40B4-BE49-F238E27FC236}">
                <a16:creationId xmlns:a16="http://schemas.microsoft.com/office/drawing/2014/main" id="{09CE89E1-6F3C-61FD-A5FF-6E783C2E9C27}"/>
              </a:ext>
            </a:extLst>
          </p:cNvPr>
          <p:cNvPicPr>
            <a:picLocks noChangeAspect="1"/>
          </p:cNvPicPr>
          <p:nvPr/>
        </p:nvPicPr>
        <p:blipFill>
          <a:blip r:embed="rId3"/>
          <a:stretch>
            <a:fillRect/>
          </a:stretch>
        </p:blipFill>
        <p:spPr>
          <a:xfrm>
            <a:off x="14271899" y="2855529"/>
            <a:ext cx="2327056" cy="2270234"/>
          </a:xfrm>
          <a:prstGeom prst="roundRect">
            <a:avLst/>
          </a:prstGeom>
        </p:spPr>
      </p:pic>
      <p:pic>
        <p:nvPicPr>
          <p:cNvPr id="17" name="Picture 16" descr="Why investors are interested in CarDekho">
            <a:extLst>
              <a:ext uri="{FF2B5EF4-FFF2-40B4-BE49-F238E27FC236}">
                <a16:creationId xmlns:a16="http://schemas.microsoft.com/office/drawing/2014/main" id="{6AB3EB66-6F37-F572-9B04-D1FB86B48E78}"/>
              </a:ext>
            </a:extLst>
          </p:cNvPr>
          <p:cNvPicPr>
            <a:picLocks noChangeAspect="1"/>
          </p:cNvPicPr>
          <p:nvPr/>
        </p:nvPicPr>
        <p:blipFill>
          <a:blip r:embed="rId4"/>
          <a:srcRect/>
          <a:stretch>
            <a:fillRect/>
          </a:stretch>
        </p:blipFill>
        <p:spPr>
          <a:xfrm>
            <a:off x="12721460" y="5378505"/>
            <a:ext cx="5408229" cy="36487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a:extLst>
            <a:ext uri="{FF2B5EF4-FFF2-40B4-BE49-F238E27FC236}">
              <a16:creationId xmlns:a16="http://schemas.microsoft.com/office/drawing/2014/main" id="{FA042C60-198B-04B6-66E2-B1D31AC50B1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C43F617-525F-1333-BAE5-5E9317E1C256}"/>
              </a:ext>
            </a:extLst>
          </p:cNvPr>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B313FC2A-2C53-1F75-645B-FB1DDB9E8E8A}"/>
              </a:ext>
            </a:extLst>
          </p:cNvPr>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TextBox 4">
            <a:extLst>
              <a:ext uri="{FF2B5EF4-FFF2-40B4-BE49-F238E27FC236}">
                <a16:creationId xmlns:a16="http://schemas.microsoft.com/office/drawing/2014/main" id="{C9AB5FD0-869F-7FC4-3CF4-079D267D05DC}"/>
              </a:ext>
            </a:extLst>
          </p:cNvPr>
          <p:cNvSpPr txBox="1"/>
          <p:nvPr/>
        </p:nvSpPr>
        <p:spPr>
          <a:xfrm>
            <a:off x="2341054" y="1033385"/>
            <a:ext cx="13694569" cy="1469248"/>
          </a:xfrm>
          <a:prstGeom prst="rect">
            <a:avLst/>
          </a:prstGeom>
        </p:spPr>
        <p:txBody>
          <a:bodyPr wrap="square" lIns="0" tIns="0" rIns="0" bIns="0" rtlCol="0" anchor="t">
            <a:spAutoFit/>
          </a:bodyPr>
          <a:lstStyle/>
          <a:p>
            <a:pPr algn="ctr">
              <a:lnSpc>
                <a:spcPts val="12599"/>
              </a:lnSpc>
            </a:pPr>
            <a:r>
              <a:rPr lang="en-US" sz="9000" b="1">
                <a:solidFill>
                  <a:srgbClr val="474646"/>
                </a:solidFill>
                <a:latin typeface="Proxima Nova Bold"/>
                <a:ea typeface="Proxima Nova Bold"/>
                <a:cs typeface="Proxima Nova Bold"/>
              </a:rPr>
              <a:t>PROJECT DESCRIPTION</a:t>
            </a:r>
          </a:p>
        </p:txBody>
      </p:sp>
      <p:sp>
        <p:nvSpPr>
          <p:cNvPr id="5" name="TextBox 5">
            <a:extLst>
              <a:ext uri="{FF2B5EF4-FFF2-40B4-BE49-F238E27FC236}">
                <a16:creationId xmlns:a16="http://schemas.microsoft.com/office/drawing/2014/main" id="{C210A7D6-001F-FA02-C5E1-B6906E18C1AC}"/>
              </a:ext>
            </a:extLst>
          </p:cNvPr>
          <p:cNvSpPr txBox="1"/>
          <p:nvPr/>
        </p:nvSpPr>
        <p:spPr>
          <a:xfrm>
            <a:off x="1703594" y="2855268"/>
            <a:ext cx="14965664" cy="6297878"/>
          </a:xfrm>
          <a:prstGeom prst="rect">
            <a:avLst/>
          </a:prstGeom>
        </p:spPr>
        <p:txBody>
          <a:bodyPr wrap="square" lIns="0" tIns="0" rIns="0" bIns="0" rtlCol="0" anchor="t">
            <a:spAutoFit/>
          </a:bodyPr>
          <a:lstStyle/>
          <a:p>
            <a:pPr algn="just"/>
            <a:r>
              <a:rPr lang="en-US" sz="2700" b="1" dirty="0">
                <a:solidFill>
                  <a:srgbClr val="474646"/>
                </a:solidFill>
                <a:latin typeface="Nunito"/>
                <a:ea typeface="Nunito"/>
                <a:cs typeface="Poppins Light"/>
              </a:rPr>
              <a:t>This project focuses on analyzing used-car market data obtained from </a:t>
            </a:r>
            <a:r>
              <a:rPr lang="en-US" sz="2700" b="1" dirty="0" err="1">
                <a:solidFill>
                  <a:srgbClr val="474646"/>
                </a:solidFill>
                <a:latin typeface="Nunito"/>
                <a:ea typeface="Nunito"/>
                <a:cs typeface="Poppins Light"/>
              </a:rPr>
              <a:t>CarDekho</a:t>
            </a:r>
            <a:r>
              <a:rPr lang="en-US" sz="2700" b="1" dirty="0">
                <a:solidFill>
                  <a:srgbClr val="474646"/>
                </a:solidFill>
                <a:latin typeface="Nunito"/>
                <a:ea typeface="Nunito"/>
                <a:cs typeface="Poppins Light"/>
              </a:rPr>
              <a:t>. The dataset contains information about different cars, including car name, manufacturing year, selling price, present price, kilometers driven, fuel type, seller type, transmission type, and number of previous owners. This data helps us understand the characteristics and pricing patterns of used cars.</a:t>
            </a:r>
            <a:endParaRPr lang="en-US" sz="2700" dirty="0">
              <a:solidFill>
                <a:srgbClr val="474646"/>
              </a:solidFill>
              <a:latin typeface="Nunito"/>
              <a:ea typeface="Nunito"/>
              <a:cs typeface="Poppins Light"/>
            </a:endParaRPr>
          </a:p>
          <a:p>
            <a:pPr algn="just"/>
            <a:endParaRPr lang="en-US" sz="2700" dirty="0">
              <a:solidFill>
                <a:srgbClr val="474646"/>
              </a:solidFill>
              <a:latin typeface="Nunito"/>
              <a:ea typeface="Nunito"/>
              <a:cs typeface="Poppins Light"/>
            </a:endParaRPr>
          </a:p>
          <a:p>
            <a:pPr algn="just"/>
            <a:r>
              <a:rPr lang="en-US" sz="2700" b="1" dirty="0">
                <a:solidFill>
                  <a:srgbClr val="474646"/>
                </a:solidFill>
                <a:latin typeface="Nunito"/>
                <a:ea typeface="Nunito"/>
                <a:cs typeface="Poppins Light"/>
              </a:rPr>
              <a:t>The project involves examining and preparing the dataset and then </a:t>
            </a:r>
            <a:r>
              <a:rPr lang="en-US" sz="2700" b="1">
                <a:solidFill>
                  <a:srgbClr val="474646"/>
                </a:solidFill>
                <a:latin typeface="Nunito"/>
                <a:ea typeface="Nunito"/>
                <a:cs typeface="Poppins Light"/>
              </a:rPr>
              <a:t>analyzing different</a:t>
            </a:r>
            <a:r>
              <a:rPr lang="en-US" sz="2700" b="1" dirty="0">
                <a:solidFill>
                  <a:srgbClr val="474646"/>
                </a:solidFill>
                <a:latin typeface="Nunito"/>
                <a:ea typeface="Nunito"/>
                <a:cs typeface="Poppins Light"/>
              </a:rPr>
              <a:t> factors </a:t>
            </a:r>
            <a:r>
              <a:rPr lang="en-US" sz="2700" b="1">
                <a:solidFill>
                  <a:srgbClr val="474646"/>
                </a:solidFill>
                <a:latin typeface="Nunito"/>
                <a:ea typeface="Nunito"/>
                <a:cs typeface="Poppins Light"/>
              </a:rPr>
              <a:t>that may affect the selling price. Factors such as car age, kilometers</a:t>
            </a:r>
            <a:r>
              <a:rPr lang="en-US" sz="2700" b="1" dirty="0">
                <a:solidFill>
                  <a:srgbClr val="474646"/>
                </a:solidFill>
                <a:latin typeface="Nunito"/>
                <a:ea typeface="Nunito"/>
                <a:cs typeface="Poppins Light"/>
              </a:rPr>
              <a:t> driven, fuel type, </a:t>
            </a:r>
            <a:r>
              <a:rPr lang="en-US" sz="2700" b="1">
                <a:solidFill>
                  <a:srgbClr val="474646"/>
                </a:solidFill>
                <a:latin typeface="Nunito"/>
                <a:ea typeface="Nunito"/>
                <a:cs typeface="Poppins Light"/>
              </a:rPr>
              <a:t>transmission, seller type, and ownership history are studied</a:t>
            </a:r>
            <a:r>
              <a:rPr lang="en-US" sz="2700" b="1" dirty="0">
                <a:solidFill>
                  <a:srgbClr val="474646"/>
                </a:solidFill>
                <a:latin typeface="Nunito"/>
                <a:ea typeface="Nunito"/>
                <a:cs typeface="Poppins Light"/>
              </a:rPr>
              <a:t> to find relationships and patterns in the data.</a:t>
            </a:r>
            <a:endParaRPr lang="en-US" sz="2700" dirty="0">
              <a:solidFill>
                <a:srgbClr val="474646"/>
              </a:solidFill>
              <a:latin typeface="Nunito"/>
              <a:ea typeface="Nunito"/>
              <a:cs typeface="Poppins Light"/>
            </a:endParaRPr>
          </a:p>
          <a:p>
            <a:pPr algn="just"/>
            <a:endParaRPr lang="en-US" sz="2700" dirty="0">
              <a:solidFill>
                <a:srgbClr val="474646"/>
              </a:solidFill>
              <a:latin typeface="Nunito"/>
              <a:ea typeface="Nunito"/>
              <a:cs typeface="Poppins Light"/>
            </a:endParaRPr>
          </a:p>
          <a:p>
            <a:pPr algn="just"/>
            <a:r>
              <a:rPr lang="en-US" sz="2700" b="1" dirty="0">
                <a:solidFill>
                  <a:srgbClr val="474646"/>
                </a:solidFill>
                <a:latin typeface="Nunito"/>
                <a:ea typeface="Nunito"/>
                <a:cs typeface="Poppins Light"/>
              </a:rPr>
              <a:t>Graphs and charts are used to present the findings in a simple and understandable way. The main goal of the project is to identify important trends in the used-car market and generate useful insights that can </a:t>
            </a:r>
            <a:r>
              <a:rPr lang="en-US" sz="2700" b="1">
                <a:solidFill>
                  <a:srgbClr val="474646"/>
                </a:solidFill>
                <a:latin typeface="Nunito"/>
                <a:ea typeface="Nunito"/>
                <a:cs typeface="Poppins Light"/>
              </a:rPr>
              <a:t>help buyers</a:t>
            </a:r>
            <a:r>
              <a:rPr lang="en-US" sz="2700" b="1" dirty="0">
                <a:solidFill>
                  <a:srgbClr val="474646"/>
                </a:solidFill>
                <a:latin typeface="Nunito"/>
                <a:ea typeface="Nunito"/>
                <a:cs typeface="Poppins Light"/>
              </a:rPr>
              <a:t>, sellers, and car dealers make better decisions.</a:t>
            </a:r>
            <a:endParaRPr lang="en-US" sz="2700" dirty="0">
              <a:solidFill>
                <a:srgbClr val="474646"/>
              </a:solidFill>
              <a:latin typeface="Nunito"/>
              <a:ea typeface="Nunito"/>
              <a:cs typeface="Poppins Light"/>
            </a:endParaRPr>
          </a:p>
          <a:p>
            <a:pPr algn="ctr">
              <a:lnSpc>
                <a:spcPts val="3919"/>
              </a:lnSpc>
            </a:pPr>
            <a:endParaRPr lang="en-US" sz="2750" dirty="0">
              <a:solidFill>
                <a:srgbClr val="000000"/>
              </a:solidFill>
              <a:latin typeface="Nunito"/>
              <a:ea typeface="Nunito"/>
              <a:cs typeface="Nunito"/>
            </a:endParaRPr>
          </a:p>
        </p:txBody>
      </p:sp>
      <p:sp>
        <p:nvSpPr>
          <p:cNvPr id="6" name="Freeform 6">
            <a:extLst>
              <a:ext uri="{FF2B5EF4-FFF2-40B4-BE49-F238E27FC236}">
                <a16:creationId xmlns:a16="http://schemas.microsoft.com/office/drawing/2014/main" id="{9C0CB2C1-D306-BEC1-7B21-A108EF7E4654}"/>
              </a:ext>
            </a:extLst>
          </p:cNvPr>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a:extLst>
              <a:ext uri="{FF2B5EF4-FFF2-40B4-BE49-F238E27FC236}">
                <a16:creationId xmlns:a16="http://schemas.microsoft.com/office/drawing/2014/main" id="{233591DF-9E82-266F-4850-D3FBC65F4AA4}"/>
              </a:ext>
            </a:extLst>
          </p:cNvPr>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8" name="Group 8">
            <a:extLst>
              <a:ext uri="{FF2B5EF4-FFF2-40B4-BE49-F238E27FC236}">
                <a16:creationId xmlns:a16="http://schemas.microsoft.com/office/drawing/2014/main" id="{D3B4B725-4266-6397-EE67-3C84E33206DE}"/>
              </a:ext>
            </a:extLst>
          </p:cNvPr>
          <p:cNvGrpSpPr/>
          <p:nvPr/>
        </p:nvGrpSpPr>
        <p:grpSpPr>
          <a:xfrm>
            <a:off x="12319137" y="9258300"/>
            <a:ext cx="3911463" cy="3911463"/>
            <a:chOff x="0" y="0"/>
            <a:chExt cx="812800" cy="812800"/>
          </a:xfrm>
        </p:grpSpPr>
        <p:sp>
          <p:nvSpPr>
            <p:cNvPr id="9" name="Freeform 9">
              <a:extLst>
                <a:ext uri="{FF2B5EF4-FFF2-40B4-BE49-F238E27FC236}">
                  <a16:creationId xmlns:a16="http://schemas.microsoft.com/office/drawing/2014/main" id="{0F1BE28A-0FD7-D2A5-BEBA-D5F23E8A0E7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0" name="TextBox 10">
              <a:extLst>
                <a:ext uri="{FF2B5EF4-FFF2-40B4-BE49-F238E27FC236}">
                  <a16:creationId xmlns:a16="http://schemas.microsoft.com/office/drawing/2014/main" id="{1F96CB4E-1D3E-97DE-1D8F-1DF6D37A6F5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a:extLst>
              <a:ext uri="{FF2B5EF4-FFF2-40B4-BE49-F238E27FC236}">
                <a16:creationId xmlns:a16="http://schemas.microsoft.com/office/drawing/2014/main" id="{CFF2A3BD-38A0-B5EE-67B2-8743C226E56D}"/>
              </a:ext>
            </a:extLst>
          </p:cNvPr>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2" name="Freeform 12">
            <a:extLst>
              <a:ext uri="{FF2B5EF4-FFF2-40B4-BE49-F238E27FC236}">
                <a16:creationId xmlns:a16="http://schemas.microsoft.com/office/drawing/2014/main" id="{C0BFEA0D-906D-5FF6-2CEB-6CF3853E9007}"/>
              </a:ext>
            </a:extLst>
          </p:cNvPr>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3" name="Group 13">
            <a:extLst>
              <a:ext uri="{FF2B5EF4-FFF2-40B4-BE49-F238E27FC236}">
                <a16:creationId xmlns:a16="http://schemas.microsoft.com/office/drawing/2014/main" id="{AC677EA3-C1EC-3D27-C607-1E33AD90161E}"/>
              </a:ext>
            </a:extLst>
          </p:cNvPr>
          <p:cNvGrpSpPr/>
          <p:nvPr/>
        </p:nvGrpSpPr>
        <p:grpSpPr>
          <a:xfrm>
            <a:off x="2129385" y="-2859528"/>
            <a:ext cx="3911463" cy="3911463"/>
            <a:chOff x="0" y="0"/>
            <a:chExt cx="812800" cy="812800"/>
          </a:xfrm>
        </p:grpSpPr>
        <p:sp>
          <p:nvSpPr>
            <p:cNvPr id="14" name="Freeform 14">
              <a:extLst>
                <a:ext uri="{FF2B5EF4-FFF2-40B4-BE49-F238E27FC236}">
                  <a16:creationId xmlns:a16="http://schemas.microsoft.com/office/drawing/2014/main" id="{59E9B6B6-3950-4D3A-4291-455D94B2EB8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5" name="TextBox 15">
              <a:extLst>
                <a:ext uri="{FF2B5EF4-FFF2-40B4-BE49-F238E27FC236}">
                  <a16:creationId xmlns:a16="http://schemas.microsoft.com/office/drawing/2014/main" id="{38A1C0CA-D4C3-153D-F432-027F92F0E23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extLst>
      <p:ext uri="{BB962C8B-B14F-4D97-AF65-F5344CB8AC3E}">
        <p14:creationId xmlns:p14="http://schemas.microsoft.com/office/powerpoint/2010/main" val="35983986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6614884" y="273926"/>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16970051" y="629093"/>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14654404" y="9149912"/>
            <a:ext cx="3911463" cy="391146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7383018" y="1051912"/>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Freeform 10"/>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1291842" y="-2859528"/>
            <a:ext cx="3911463" cy="3911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742004" y="629394"/>
            <a:ext cx="17543000" cy="2616101"/>
          </a:xfrm>
          <a:prstGeom prst="rect">
            <a:avLst/>
          </a:prstGeom>
        </p:spPr>
        <p:txBody>
          <a:bodyPr wrap="square" lIns="0" tIns="0" rIns="0" bIns="0" rtlCol="0" anchor="t">
            <a:spAutoFit/>
          </a:bodyPr>
          <a:lstStyle/>
          <a:p>
            <a:pPr algn="ctr"/>
            <a:r>
              <a:rPr lang="en-US" sz="8500" b="1">
                <a:solidFill>
                  <a:srgbClr val="474646"/>
                </a:solidFill>
                <a:latin typeface="Proxima Nova Bold"/>
                <a:ea typeface="Proxima Nova Bold"/>
                <a:cs typeface="Proxima Nova Bold"/>
              </a:rPr>
              <a:t>WHO ARE THE END </a:t>
            </a:r>
            <a:endParaRPr lang="en-US" sz="8500">
              <a:ea typeface="Calibri"/>
              <a:cs typeface="Calibri"/>
            </a:endParaRPr>
          </a:p>
          <a:p>
            <a:pPr algn="ctr"/>
            <a:r>
              <a:rPr lang="en-US" sz="8500" b="1">
                <a:solidFill>
                  <a:srgbClr val="474646"/>
                </a:solidFill>
                <a:latin typeface="Proxima Nova Bold"/>
                <a:ea typeface="Proxima Nova Bold"/>
                <a:cs typeface="Proxima Nova Bold"/>
              </a:rPr>
              <a:t>USERS?</a:t>
            </a:r>
            <a:endParaRPr lang="en-US" sz="8500">
              <a:ea typeface="Calibri"/>
              <a:cs typeface="Calibri"/>
            </a:endParaRPr>
          </a:p>
        </p:txBody>
      </p:sp>
      <p:grpSp>
        <p:nvGrpSpPr>
          <p:cNvPr id="27" name="Group 27"/>
          <p:cNvGrpSpPr/>
          <p:nvPr/>
        </p:nvGrpSpPr>
        <p:grpSpPr>
          <a:xfrm>
            <a:off x="394759" y="4418494"/>
            <a:ext cx="3318606" cy="4550777"/>
            <a:chOff x="0" y="0"/>
            <a:chExt cx="671615" cy="726242"/>
          </a:xfrm>
        </p:grpSpPr>
        <p:sp>
          <p:nvSpPr>
            <p:cNvPr id="28" name="Freeform 28"/>
            <p:cNvSpPr/>
            <p:nvPr/>
          </p:nvSpPr>
          <p:spPr>
            <a:xfrm>
              <a:off x="0" y="0"/>
              <a:ext cx="671615" cy="726242"/>
            </a:xfrm>
            <a:prstGeom prst="roundRect">
              <a:avLst/>
            </a:prstGeom>
            <a:ln w="38100" cap="rnd">
              <a:solidFill>
                <a:srgbClr val="000000"/>
              </a:solidFill>
              <a:prstDash val="solid"/>
              <a:round/>
            </a:ln>
          </p:spPr>
        </p:sp>
        <p:sp>
          <p:nvSpPr>
            <p:cNvPr id="29" name="TextBox 29"/>
            <p:cNvSpPr txBox="1"/>
            <p:nvPr/>
          </p:nvSpPr>
          <p:spPr>
            <a:xfrm>
              <a:off x="0" y="-38100"/>
              <a:ext cx="671615" cy="764342"/>
            </a:xfrm>
            <a:prstGeom prst="roundRect">
              <a:avLst/>
            </a:prstGeom>
          </p:spPr>
          <p:txBody>
            <a:bodyPr lIns="50800" tIns="50800" rIns="50800" bIns="50800" rtlCol="0" anchor="ctr"/>
            <a:lstStyle/>
            <a:p>
              <a:pPr algn="ctr">
                <a:lnSpc>
                  <a:spcPts val="2659"/>
                </a:lnSpc>
              </a:pPr>
              <a:endParaRPr/>
            </a:p>
          </p:txBody>
        </p:sp>
      </p:grpSp>
      <p:grpSp>
        <p:nvGrpSpPr>
          <p:cNvPr id="55" name="Group 27">
            <a:extLst>
              <a:ext uri="{FF2B5EF4-FFF2-40B4-BE49-F238E27FC236}">
                <a16:creationId xmlns:a16="http://schemas.microsoft.com/office/drawing/2014/main" id="{89AAF476-F490-8289-A37B-5094115F8B06}"/>
              </a:ext>
            </a:extLst>
          </p:cNvPr>
          <p:cNvGrpSpPr/>
          <p:nvPr/>
        </p:nvGrpSpPr>
        <p:grpSpPr>
          <a:xfrm>
            <a:off x="3932146" y="4180100"/>
            <a:ext cx="3289047" cy="4818732"/>
            <a:chOff x="0" y="-38100"/>
            <a:chExt cx="671615" cy="764342"/>
          </a:xfrm>
        </p:grpSpPr>
        <p:sp>
          <p:nvSpPr>
            <p:cNvPr id="56" name="Freeform 28">
              <a:extLst>
                <a:ext uri="{FF2B5EF4-FFF2-40B4-BE49-F238E27FC236}">
                  <a16:creationId xmlns:a16="http://schemas.microsoft.com/office/drawing/2014/main" id="{F04AE677-A841-C192-8C78-2B10E02F80A4}"/>
                </a:ext>
              </a:extLst>
            </p:cNvPr>
            <p:cNvSpPr/>
            <p:nvPr/>
          </p:nvSpPr>
          <p:spPr>
            <a:xfrm>
              <a:off x="0" y="0"/>
              <a:ext cx="671615" cy="726242"/>
            </a:xfrm>
            <a:prstGeom prst="roundRect">
              <a:avLst/>
            </a:prstGeom>
            <a:ln w="38100" cap="rnd">
              <a:solidFill>
                <a:srgbClr val="000000"/>
              </a:solidFill>
              <a:prstDash val="solid"/>
              <a:round/>
            </a:ln>
          </p:spPr>
        </p:sp>
        <p:sp>
          <p:nvSpPr>
            <p:cNvPr id="57" name="TextBox 29">
              <a:extLst>
                <a:ext uri="{FF2B5EF4-FFF2-40B4-BE49-F238E27FC236}">
                  <a16:creationId xmlns:a16="http://schemas.microsoft.com/office/drawing/2014/main" id="{820B768D-D67E-7DF9-E7E4-AC9E35D8AA73}"/>
                </a:ext>
              </a:extLst>
            </p:cNvPr>
            <p:cNvSpPr txBox="1"/>
            <p:nvPr/>
          </p:nvSpPr>
          <p:spPr>
            <a:xfrm>
              <a:off x="0" y="-38100"/>
              <a:ext cx="671615" cy="764342"/>
            </a:xfrm>
            <a:prstGeom prst="roundRect">
              <a:avLst/>
            </a:prstGeom>
          </p:spPr>
          <p:txBody>
            <a:bodyPr lIns="50800" tIns="50800" rIns="50800" bIns="50800" rtlCol="0" anchor="ctr"/>
            <a:lstStyle/>
            <a:p>
              <a:pPr algn="ctr">
                <a:lnSpc>
                  <a:spcPts val="2659"/>
                </a:lnSpc>
              </a:pPr>
              <a:endParaRPr/>
            </a:p>
          </p:txBody>
        </p:sp>
      </p:grpSp>
      <p:grpSp>
        <p:nvGrpSpPr>
          <p:cNvPr id="58" name="Group 27">
            <a:extLst>
              <a:ext uri="{FF2B5EF4-FFF2-40B4-BE49-F238E27FC236}">
                <a16:creationId xmlns:a16="http://schemas.microsoft.com/office/drawing/2014/main" id="{BC0D0EE7-AD2C-596D-30BB-5F91007E329C}"/>
              </a:ext>
            </a:extLst>
          </p:cNvPr>
          <p:cNvGrpSpPr/>
          <p:nvPr/>
        </p:nvGrpSpPr>
        <p:grpSpPr>
          <a:xfrm>
            <a:off x="7371001" y="4170248"/>
            <a:ext cx="3466408" cy="4828585"/>
            <a:chOff x="0" y="-38100"/>
            <a:chExt cx="671615" cy="764342"/>
          </a:xfrm>
        </p:grpSpPr>
        <p:sp>
          <p:nvSpPr>
            <p:cNvPr id="59" name="Freeform 28">
              <a:extLst>
                <a:ext uri="{FF2B5EF4-FFF2-40B4-BE49-F238E27FC236}">
                  <a16:creationId xmlns:a16="http://schemas.microsoft.com/office/drawing/2014/main" id="{5953B2A7-2CC9-86ED-689B-78EB488089B5}"/>
                </a:ext>
              </a:extLst>
            </p:cNvPr>
            <p:cNvSpPr/>
            <p:nvPr/>
          </p:nvSpPr>
          <p:spPr>
            <a:xfrm>
              <a:off x="0" y="0"/>
              <a:ext cx="671615" cy="726242"/>
            </a:xfrm>
            <a:prstGeom prst="roundRect">
              <a:avLst/>
            </a:prstGeom>
            <a:ln w="38100" cap="rnd">
              <a:solidFill>
                <a:srgbClr val="000000"/>
              </a:solidFill>
              <a:prstDash val="solid"/>
              <a:round/>
            </a:ln>
          </p:spPr>
        </p:sp>
        <p:sp>
          <p:nvSpPr>
            <p:cNvPr id="60" name="TextBox 29">
              <a:extLst>
                <a:ext uri="{FF2B5EF4-FFF2-40B4-BE49-F238E27FC236}">
                  <a16:creationId xmlns:a16="http://schemas.microsoft.com/office/drawing/2014/main" id="{1F395A4D-A5A8-21F9-FB84-5961B1E1C949}"/>
                </a:ext>
              </a:extLst>
            </p:cNvPr>
            <p:cNvSpPr txBox="1"/>
            <p:nvPr/>
          </p:nvSpPr>
          <p:spPr>
            <a:xfrm>
              <a:off x="0" y="-38100"/>
              <a:ext cx="671615" cy="764342"/>
            </a:xfrm>
            <a:prstGeom prst="roundRect">
              <a:avLst/>
            </a:prstGeom>
          </p:spPr>
          <p:txBody>
            <a:bodyPr lIns="50800" tIns="50800" rIns="50800" bIns="50800" rtlCol="0" anchor="ctr"/>
            <a:lstStyle/>
            <a:p>
              <a:pPr algn="ctr">
                <a:lnSpc>
                  <a:spcPts val="2659"/>
                </a:lnSpc>
              </a:pPr>
              <a:endParaRPr/>
            </a:p>
          </p:txBody>
        </p:sp>
      </p:grpSp>
      <p:grpSp>
        <p:nvGrpSpPr>
          <p:cNvPr id="61" name="Group 27">
            <a:extLst>
              <a:ext uri="{FF2B5EF4-FFF2-40B4-BE49-F238E27FC236}">
                <a16:creationId xmlns:a16="http://schemas.microsoft.com/office/drawing/2014/main" id="{0CA748CC-F012-BCB3-4985-C32C14055BB1}"/>
              </a:ext>
            </a:extLst>
          </p:cNvPr>
          <p:cNvGrpSpPr/>
          <p:nvPr/>
        </p:nvGrpSpPr>
        <p:grpSpPr>
          <a:xfrm>
            <a:off x="10987215" y="4160391"/>
            <a:ext cx="3289047" cy="4848293"/>
            <a:chOff x="0" y="-38100"/>
            <a:chExt cx="671615" cy="764342"/>
          </a:xfrm>
        </p:grpSpPr>
        <p:sp>
          <p:nvSpPr>
            <p:cNvPr id="62" name="Freeform 28">
              <a:extLst>
                <a:ext uri="{FF2B5EF4-FFF2-40B4-BE49-F238E27FC236}">
                  <a16:creationId xmlns:a16="http://schemas.microsoft.com/office/drawing/2014/main" id="{78388D15-7646-B882-D06C-C8AA5974FBA3}"/>
                </a:ext>
              </a:extLst>
            </p:cNvPr>
            <p:cNvSpPr/>
            <p:nvPr/>
          </p:nvSpPr>
          <p:spPr>
            <a:xfrm>
              <a:off x="0" y="0"/>
              <a:ext cx="671615" cy="726242"/>
            </a:xfrm>
            <a:prstGeom prst="roundRect">
              <a:avLst/>
            </a:prstGeom>
            <a:ln w="38100" cap="rnd">
              <a:solidFill>
                <a:srgbClr val="000000"/>
              </a:solidFill>
              <a:prstDash val="solid"/>
              <a:round/>
            </a:ln>
          </p:spPr>
        </p:sp>
        <p:sp>
          <p:nvSpPr>
            <p:cNvPr id="63" name="TextBox 29">
              <a:extLst>
                <a:ext uri="{FF2B5EF4-FFF2-40B4-BE49-F238E27FC236}">
                  <a16:creationId xmlns:a16="http://schemas.microsoft.com/office/drawing/2014/main" id="{2151FCAF-B5B2-5535-E715-ED30EEE90B5A}"/>
                </a:ext>
              </a:extLst>
            </p:cNvPr>
            <p:cNvSpPr txBox="1"/>
            <p:nvPr/>
          </p:nvSpPr>
          <p:spPr>
            <a:xfrm>
              <a:off x="0" y="-38100"/>
              <a:ext cx="671615" cy="764342"/>
            </a:xfrm>
            <a:prstGeom prst="roundRect">
              <a:avLst/>
            </a:prstGeom>
          </p:spPr>
          <p:txBody>
            <a:bodyPr lIns="50800" tIns="50800" rIns="50800" bIns="50800" rtlCol="0" anchor="ctr"/>
            <a:lstStyle/>
            <a:p>
              <a:pPr algn="ctr">
                <a:lnSpc>
                  <a:spcPts val="2659"/>
                </a:lnSpc>
              </a:pPr>
              <a:endParaRPr/>
            </a:p>
          </p:txBody>
        </p:sp>
      </p:grpSp>
      <p:grpSp>
        <p:nvGrpSpPr>
          <p:cNvPr id="64" name="Group 27">
            <a:extLst>
              <a:ext uri="{FF2B5EF4-FFF2-40B4-BE49-F238E27FC236}">
                <a16:creationId xmlns:a16="http://schemas.microsoft.com/office/drawing/2014/main" id="{AC8A94E3-BF84-172C-FA3B-6C85D244A74A}"/>
              </a:ext>
            </a:extLst>
          </p:cNvPr>
          <p:cNvGrpSpPr/>
          <p:nvPr/>
        </p:nvGrpSpPr>
        <p:grpSpPr>
          <a:xfrm>
            <a:off x="14583723" y="4140685"/>
            <a:ext cx="3358020" cy="4887706"/>
            <a:chOff x="0" y="-38100"/>
            <a:chExt cx="671615" cy="764342"/>
          </a:xfrm>
        </p:grpSpPr>
        <p:sp>
          <p:nvSpPr>
            <p:cNvPr id="65" name="Freeform 28">
              <a:extLst>
                <a:ext uri="{FF2B5EF4-FFF2-40B4-BE49-F238E27FC236}">
                  <a16:creationId xmlns:a16="http://schemas.microsoft.com/office/drawing/2014/main" id="{544404C2-2FE2-6CE2-AF64-2CCA056F4F04}"/>
                </a:ext>
              </a:extLst>
            </p:cNvPr>
            <p:cNvSpPr/>
            <p:nvPr/>
          </p:nvSpPr>
          <p:spPr>
            <a:xfrm>
              <a:off x="0" y="0"/>
              <a:ext cx="671615" cy="726242"/>
            </a:xfrm>
            <a:prstGeom prst="roundRect">
              <a:avLst/>
            </a:prstGeom>
            <a:ln w="38100" cap="rnd">
              <a:solidFill>
                <a:srgbClr val="000000"/>
              </a:solidFill>
              <a:prstDash val="solid"/>
              <a:round/>
            </a:ln>
          </p:spPr>
        </p:sp>
        <p:sp>
          <p:nvSpPr>
            <p:cNvPr id="66" name="TextBox 29">
              <a:extLst>
                <a:ext uri="{FF2B5EF4-FFF2-40B4-BE49-F238E27FC236}">
                  <a16:creationId xmlns:a16="http://schemas.microsoft.com/office/drawing/2014/main" id="{D3AB1CB6-033A-C946-6F1E-113D0746F125}"/>
                </a:ext>
              </a:extLst>
            </p:cNvPr>
            <p:cNvSpPr txBox="1"/>
            <p:nvPr/>
          </p:nvSpPr>
          <p:spPr>
            <a:xfrm>
              <a:off x="0" y="-38100"/>
              <a:ext cx="671615" cy="764342"/>
            </a:xfrm>
            <a:prstGeom prst="roundRect">
              <a:avLst/>
            </a:prstGeom>
          </p:spPr>
          <p:txBody>
            <a:bodyPr lIns="50800" tIns="50800" rIns="50800" bIns="50800" rtlCol="0" anchor="ctr"/>
            <a:lstStyle/>
            <a:p>
              <a:pPr algn="ctr">
                <a:lnSpc>
                  <a:spcPts val="2659"/>
                </a:lnSpc>
              </a:pPr>
              <a:endParaRPr/>
            </a:p>
          </p:txBody>
        </p:sp>
      </p:grpSp>
      <p:sp>
        <p:nvSpPr>
          <p:cNvPr id="67" name="TextBox 66">
            <a:extLst>
              <a:ext uri="{FF2B5EF4-FFF2-40B4-BE49-F238E27FC236}">
                <a16:creationId xmlns:a16="http://schemas.microsoft.com/office/drawing/2014/main" id="{E37F5322-4057-046D-9680-3B5729EA8E24}"/>
              </a:ext>
            </a:extLst>
          </p:cNvPr>
          <p:cNvSpPr txBox="1"/>
          <p:nvPr/>
        </p:nvSpPr>
        <p:spPr>
          <a:xfrm>
            <a:off x="739008" y="4729655"/>
            <a:ext cx="2640724" cy="38010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700" b="1">
                <a:solidFill>
                  <a:srgbClr val="474646"/>
                </a:solidFill>
                <a:latin typeface="Nunito"/>
                <a:cs typeface="Poppins Light"/>
              </a:rPr>
              <a:t>1. Used Car Buyers:</a:t>
            </a:r>
            <a:endParaRPr lang="en-US" sz="2700">
              <a:solidFill>
                <a:srgbClr val="474646"/>
              </a:solidFill>
              <a:latin typeface="Nunito"/>
              <a:cs typeface="Poppins Light"/>
            </a:endParaRPr>
          </a:p>
          <a:p>
            <a:pPr algn="ctr"/>
            <a:r>
              <a:rPr lang="en-US" sz="2700">
                <a:solidFill>
                  <a:srgbClr val="474646"/>
                </a:solidFill>
                <a:latin typeface="Nunito"/>
                <a:cs typeface="Poppins Light"/>
              </a:rPr>
              <a:t>Can compare prices and car characteristics to make informed purchasing</a:t>
            </a:r>
            <a:r>
              <a:rPr lang="en-US" sz="2500" dirty="0">
                <a:solidFill>
                  <a:srgbClr val="474646"/>
                </a:solidFill>
                <a:latin typeface="Poppins Light"/>
                <a:cs typeface="Poppins Light"/>
              </a:rPr>
              <a:t> </a:t>
            </a:r>
            <a:r>
              <a:rPr lang="en-US" sz="2500">
                <a:solidFill>
                  <a:srgbClr val="474646"/>
                </a:solidFill>
                <a:latin typeface="Poppins Light"/>
                <a:cs typeface="Poppins Light"/>
              </a:rPr>
              <a:t>decisions</a:t>
            </a:r>
            <a:endParaRPr lang="en-US">
              <a:solidFill>
                <a:srgbClr val="474646"/>
              </a:solidFill>
              <a:ea typeface="Calibri"/>
              <a:cs typeface="Calibri"/>
            </a:endParaRPr>
          </a:p>
        </p:txBody>
      </p:sp>
      <p:sp>
        <p:nvSpPr>
          <p:cNvPr id="68" name="TextBox 67">
            <a:extLst>
              <a:ext uri="{FF2B5EF4-FFF2-40B4-BE49-F238E27FC236}">
                <a16:creationId xmlns:a16="http://schemas.microsoft.com/office/drawing/2014/main" id="{7CC05B73-7765-80D0-2F06-E9D1359634CA}"/>
              </a:ext>
            </a:extLst>
          </p:cNvPr>
          <p:cNvSpPr txBox="1"/>
          <p:nvPr/>
        </p:nvSpPr>
        <p:spPr>
          <a:xfrm>
            <a:off x="4089181" y="4778922"/>
            <a:ext cx="2985595"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700" b="1">
                <a:solidFill>
                  <a:srgbClr val="474646"/>
                </a:solidFill>
                <a:latin typeface="Nunito"/>
                <a:cs typeface="Poppins Light"/>
              </a:rPr>
              <a:t>2. Car Sellers:</a:t>
            </a:r>
            <a:endParaRPr lang="en-US" sz="2700">
              <a:solidFill>
                <a:srgbClr val="474646"/>
              </a:solidFill>
              <a:latin typeface="Nunito"/>
              <a:cs typeface="Poppins Light"/>
            </a:endParaRPr>
          </a:p>
          <a:p>
            <a:pPr algn="ctr"/>
            <a:endParaRPr lang="en-US" sz="2700" b="1" dirty="0">
              <a:solidFill>
                <a:srgbClr val="474646"/>
              </a:solidFill>
              <a:latin typeface="Nunito"/>
              <a:cs typeface="Poppins Light"/>
            </a:endParaRPr>
          </a:p>
          <a:p>
            <a:pPr algn="ctr"/>
            <a:r>
              <a:rPr lang="en-US" sz="2700">
                <a:solidFill>
                  <a:srgbClr val="474646"/>
                </a:solidFill>
                <a:latin typeface="Nunito"/>
                <a:cs typeface="Poppins Light"/>
              </a:rPr>
              <a:t>Can understand pricing trends and estimate a suitable resale price for their vehicles.</a:t>
            </a:r>
          </a:p>
          <a:p>
            <a:pPr algn="ctr"/>
            <a:endParaRPr lang="en-US" dirty="0">
              <a:solidFill>
                <a:srgbClr val="474646"/>
              </a:solidFill>
              <a:ea typeface="Calibri"/>
              <a:cs typeface="Calibri"/>
            </a:endParaRPr>
          </a:p>
        </p:txBody>
      </p:sp>
      <p:sp>
        <p:nvSpPr>
          <p:cNvPr id="69" name="TextBox 68">
            <a:extLst>
              <a:ext uri="{FF2B5EF4-FFF2-40B4-BE49-F238E27FC236}">
                <a16:creationId xmlns:a16="http://schemas.microsoft.com/office/drawing/2014/main" id="{A2B9B7AC-8A57-B134-1756-E167F7CBAB99}"/>
              </a:ext>
            </a:extLst>
          </p:cNvPr>
          <p:cNvSpPr txBox="1"/>
          <p:nvPr/>
        </p:nvSpPr>
        <p:spPr>
          <a:xfrm>
            <a:off x="7399940" y="4384784"/>
            <a:ext cx="3497973" cy="44935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r>
              <a:rPr lang="en-US" sz="2500" b="0" i="0">
                <a:solidFill>
                  <a:srgbClr val="000000"/>
                </a:solidFill>
                <a:latin typeface="Poppins Light"/>
                <a:ea typeface="Segoe UI"/>
                <a:cs typeface="Segoe UI"/>
              </a:rPr>
              <a:t>​</a:t>
            </a:r>
            <a:endParaRPr lang="en-US"/>
          </a:p>
          <a:p>
            <a:pPr algn="ctr" rtl="0"/>
            <a:r>
              <a:rPr lang="en-US" sz="2700" b="1" i="0" u="none" strike="noStrike" baseline="0">
                <a:solidFill>
                  <a:srgbClr val="474646"/>
                </a:solidFill>
                <a:latin typeface="Nunito"/>
                <a:ea typeface="Segoe UI"/>
                <a:cs typeface="Segoe UI"/>
              </a:rPr>
              <a:t>3. Car Dealers &amp; Companies:</a:t>
            </a:r>
            <a:r>
              <a:rPr lang="en-US" sz="2700" b="0" i="0">
                <a:solidFill>
                  <a:srgbClr val="474646"/>
                </a:solidFill>
                <a:latin typeface="Nunito"/>
                <a:ea typeface="Segoe UI"/>
                <a:cs typeface="Segoe UI"/>
              </a:rPr>
              <a:t>​</a:t>
            </a:r>
            <a:endParaRPr lang="en-US" sz="2700" b="0" i="0" dirty="0">
              <a:solidFill>
                <a:srgbClr val="474646"/>
              </a:solidFill>
              <a:latin typeface="Nunito"/>
              <a:ea typeface="Segoe UI"/>
              <a:cs typeface="Segoe UI"/>
            </a:endParaRPr>
          </a:p>
          <a:p>
            <a:pPr algn="ctr"/>
            <a:r>
              <a:rPr lang="en-US" sz="2700" b="0" i="0" u="none" strike="noStrike" baseline="0" dirty="0">
                <a:solidFill>
                  <a:srgbClr val="474646"/>
                </a:solidFill>
                <a:latin typeface="Nunito"/>
                <a:ea typeface="Segoe UI"/>
                <a:cs typeface="Segoe UI"/>
              </a:rPr>
              <a:t>Can use market insights to make better decisions about vehicle pricing, </a:t>
            </a:r>
            <a:r>
              <a:rPr lang="en-US" sz="2700" b="0" i="0" u="none" strike="noStrike" baseline="0">
                <a:solidFill>
                  <a:srgbClr val="474646"/>
                </a:solidFill>
                <a:latin typeface="Nunito"/>
                <a:ea typeface="Segoe UI"/>
                <a:cs typeface="Segoe UI"/>
              </a:rPr>
              <a:t>inventory,</a:t>
            </a:r>
            <a:r>
              <a:rPr lang="en-US" sz="2700">
                <a:solidFill>
                  <a:srgbClr val="474646"/>
                </a:solidFill>
                <a:latin typeface="Nunito"/>
                <a:ea typeface="Segoe UI"/>
                <a:cs typeface="Segoe UI"/>
              </a:rPr>
              <a:t> </a:t>
            </a:r>
            <a:r>
              <a:rPr lang="en-US" sz="2700" b="0" i="0" u="none" strike="noStrike" baseline="0">
                <a:solidFill>
                  <a:srgbClr val="474646"/>
                </a:solidFill>
                <a:latin typeface="Nunito"/>
                <a:ea typeface="Segoe UI"/>
                <a:cs typeface="Segoe UI"/>
              </a:rPr>
              <a:t>sales</a:t>
            </a:r>
            <a:r>
              <a:rPr lang="en-US" sz="2700" b="0" i="0" u="none" strike="noStrike" baseline="0" dirty="0">
                <a:solidFill>
                  <a:srgbClr val="474646"/>
                </a:solidFill>
                <a:latin typeface="Nunito"/>
                <a:ea typeface="Segoe UI"/>
                <a:cs typeface="Segoe UI"/>
              </a:rPr>
              <a:t>, and purchasing strategies.</a:t>
            </a:r>
            <a:r>
              <a:rPr lang="en-US" sz="2700" b="0" i="0" dirty="0">
                <a:solidFill>
                  <a:srgbClr val="474646"/>
                </a:solidFill>
                <a:latin typeface="Nunito"/>
                <a:ea typeface="Segoe UI"/>
                <a:cs typeface="Segoe UI"/>
              </a:rPr>
              <a:t>​</a:t>
            </a:r>
          </a:p>
          <a:p>
            <a:pPr algn="ctr"/>
            <a:endParaRPr lang="en-US"/>
          </a:p>
        </p:txBody>
      </p:sp>
      <p:sp>
        <p:nvSpPr>
          <p:cNvPr id="70" name="TextBox 69">
            <a:extLst>
              <a:ext uri="{FF2B5EF4-FFF2-40B4-BE49-F238E27FC236}">
                <a16:creationId xmlns:a16="http://schemas.microsoft.com/office/drawing/2014/main" id="{E9377281-F5D8-A0E9-A84D-DF19401FE695}"/>
              </a:ext>
            </a:extLst>
          </p:cNvPr>
          <p:cNvSpPr txBox="1"/>
          <p:nvPr/>
        </p:nvSpPr>
        <p:spPr>
          <a:xfrm>
            <a:off x="11065423" y="4414345"/>
            <a:ext cx="3133397" cy="44935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r>
              <a:rPr lang="en-US" sz="2500" b="0" i="0">
                <a:solidFill>
                  <a:srgbClr val="000000"/>
                </a:solidFill>
                <a:latin typeface="Poppins Light"/>
                <a:ea typeface="Segoe UI"/>
                <a:cs typeface="Segoe UI"/>
              </a:rPr>
              <a:t>​</a:t>
            </a:r>
            <a:endParaRPr lang="en-US"/>
          </a:p>
          <a:p>
            <a:pPr algn="ctr" rtl="0"/>
            <a:r>
              <a:rPr lang="en-US" sz="2700" b="1" i="0" u="none" strike="noStrike" baseline="0">
                <a:solidFill>
                  <a:srgbClr val="474646"/>
                </a:solidFill>
                <a:latin typeface="Nunito"/>
                <a:ea typeface="Segoe UI"/>
                <a:cs typeface="Segoe UI"/>
              </a:rPr>
              <a:t>4. Market Analysts:</a:t>
            </a:r>
            <a:r>
              <a:rPr lang="en-US" sz="2700" b="0" i="0">
                <a:solidFill>
                  <a:srgbClr val="474646"/>
                </a:solidFill>
                <a:latin typeface="Nunito"/>
                <a:ea typeface="Segoe UI"/>
                <a:cs typeface="Segoe UI"/>
              </a:rPr>
              <a:t>​</a:t>
            </a:r>
            <a:endParaRPr lang="en-US" sz="2700" b="0" i="0" dirty="0">
              <a:solidFill>
                <a:srgbClr val="474646"/>
              </a:solidFill>
              <a:latin typeface="Nunito"/>
              <a:ea typeface="Segoe UI"/>
              <a:cs typeface="Segoe UI"/>
            </a:endParaRPr>
          </a:p>
          <a:p>
            <a:pPr algn="ctr"/>
            <a:r>
              <a:rPr lang="en-US" sz="2700" b="0" i="0" u="none" strike="noStrike" baseline="0" dirty="0">
                <a:solidFill>
                  <a:srgbClr val="474646"/>
                </a:solidFill>
                <a:latin typeface="Nunito"/>
                <a:ea typeface="Segoe UI"/>
                <a:cs typeface="Segoe UI"/>
              </a:rPr>
              <a:t>Can study trends, customer preferences, and relationships between different </a:t>
            </a:r>
            <a:r>
              <a:rPr lang="en-US" sz="2700">
                <a:solidFill>
                  <a:srgbClr val="474646"/>
                </a:solidFill>
                <a:latin typeface="Nunito"/>
                <a:ea typeface="Segoe UI"/>
                <a:cs typeface="Segoe UI"/>
              </a:rPr>
              <a:t>car attributes</a:t>
            </a:r>
            <a:r>
              <a:rPr lang="en-US" sz="2700" b="0" i="0" u="none" strike="noStrike" baseline="0" dirty="0">
                <a:solidFill>
                  <a:srgbClr val="474646"/>
                </a:solidFill>
                <a:latin typeface="Nunito"/>
                <a:ea typeface="Segoe UI"/>
                <a:cs typeface="Segoe UI"/>
              </a:rPr>
              <a:t> and selling prices.</a:t>
            </a:r>
            <a:r>
              <a:rPr lang="en-US" sz="2700" b="0" i="0" dirty="0">
                <a:solidFill>
                  <a:srgbClr val="474646"/>
                </a:solidFill>
                <a:latin typeface="Nunito"/>
                <a:ea typeface="Segoe UI"/>
                <a:cs typeface="Segoe UI"/>
              </a:rPr>
              <a:t>​</a:t>
            </a:r>
          </a:p>
          <a:p>
            <a:pPr algn="ctr"/>
            <a:endParaRPr lang="en-US"/>
          </a:p>
        </p:txBody>
      </p:sp>
      <p:sp>
        <p:nvSpPr>
          <p:cNvPr id="71" name="TextBox 70">
            <a:extLst>
              <a:ext uri="{FF2B5EF4-FFF2-40B4-BE49-F238E27FC236}">
                <a16:creationId xmlns:a16="http://schemas.microsoft.com/office/drawing/2014/main" id="{4715F9D4-7ABE-9C6A-9314-445664CDE26A}"/>
              </a:ext>
            </a:extLst>
          </p:cNvPr>
          <p:cNvSpPr txBox="1"/>
          <p:nvPr/>
        </p:nvSpPr>
        <p:spPr>
          <a:xfrm>
            <a:off x="14583104" y="4778921"/>
            <a:ext cx="3438854" cy="43704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r>
              <a:rPr lang="en-US" sz="2600" b="1" i="0" u="none" strike="noStrike" baseline="0">
                <a:solidFill>
                  <a:srgbClr val="474646"/>
                </a:solidFill>
                <a:latin typeface="Nunito"/>
                <a:ea typeface="Segoe UI"/>
                <a:cs typeface="Segoe UI"/>
              </a:rPr>
              <a:t>5. Business &amp; Marketing Teams:</a:t>
            </a:r>
            <a:r>
              <a:rPr lang="en-US" sz="2600" b="0" i="0">
                <a:solidFill>
                  <a:srgbClr val="474646"/>
                </a:solidFill>
                <a:latin typeface="Nunito"/>
                <a:ea typeface="Segoe UI"/>
                <a:cs typeface="Segoe UI"/>
              </a:rPr>
              <a:t>​</a:t>
            </a:r>
            <a:endParaRPr lang="en-US" sz="2600" b="0" i="0" dirty="0">
              <a:solidFill>
                <a:srgbClr val="474646"/>
              </a:solidFill>
              <a:latin typeface="Nunito"/>
              <a:ea typeface="Segoe UI"/>
              <a:cs typeface="Segoe UI"/>
            </a:endParaRPr>
          </a:p>
          <a:p>
            <a:pPr algn="ctr"/>
            <a:r>
              <a:rPr lang="en-US" sz="2600" b="0" i="0" u="none" strike="noStrike" baseline="0" dirty="0">
                <a:solidFill>
                  <a:srgbClr val="474646"/>
                </a:solidFill>
                <a:latin typeface="Nunito"/>
                <a:ea typeface="Segoe UI"/>
                <a:cs typeface="Segoe UI"/>
              </a:rPr>
              <a:t>Can use the analysis to understand market demand, identify popular </a:t>
            </a:r>
            <a:r>
              <a:rPr lang="en-US" sz="2600">
                <a:solidFill>
                  <a:srgbClr val="474646"/>
                </a:solidFill>
                <a:latin typeface="Nunito"/>
                <a:ea typeface="Segoe UI"/>
                <a:cs typeface="Segoe UI"/>
              </a:rPr>
              <a:t>vehicle categories</a:t>
            </a:r>
            <a:r>
              <a:rPr lang="en-US" sz="2600" b="0" i="0" u="none" strike="noStrike" baseline="0" dirty="0">
                <a:solidFill>
                  <a:srgbClr val="474646"/>
                </a:solidFill>
                <a:latin typeface="Nunito"/>
                <a:ea typeface="Segoe UI"/>
                <a:cs typeface="Segoe UI"/>
              </a:rPr>
              <a:t>, and support future business and marketing decisions.</a:t>
            </a:r>
            <a:r>
              <a:rPr lang="en-US" sz="2600" b="0" i="0" dirty="0">
                <a:solidFill>
                  <a:srgbClr val="474646"/>
                </a:solidFill>
                <a:latin typeface="Nunito"/>
                <a:ea typeface="Segoe UI"/>
                <a:cs typeface="Segoe UI"/>
              </a:rPr>
              <a:t>​</a:t>
            </a:r>
          </a:p>
          <a:p>
            <a:pPr algn="ctr"/>
            <a:endParaRPr lang="en-US"/>
          </a:p>
        </p:txBody>
      </p:sp>
      <p:sp>
        <p:nvSpPr>
          <p:cNvPr id="16" name="TextBox 15">
            <a:extLst>
              <a:ext uri="{FF2B5EF4-FFF2-40B4-BE49-F238E27FC236}">
                <a16:creationId xmlns:a16="http://schemas.microsoft.com/office/drawing/2014/main" id="{CD77599A-47E1-092F-7B10-5061BCBBE2E1}"/>
              </a:ext>
            </a:extLst>
          </p:cNvPr>
          <p:cNvSpPr txBox="1"/>
          <p:nvPr/>
        </p:nvSpPr>
        <p:spPr>
          <a:xfrm>
            <a:off x="1990395" y="3103836"/>
            <a:ext cx="1422837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700">
                <a:latin typeface="Nunito"/>
                <a:ea typeface="+mn-lt"/>
                <a:cs typeface="+mn-lt"/>
              </a:rPr>
              <a:t>The analysis provides useful insights that can support different stakeholders involved in the used-car market in making informed decisions.</a:t>
            </a:r>
            <a:endParaRPr lang="en-US" sz="2700">
              <a:latin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a:extLst>
            <a:ext uri="{FF2B5EF4-FFF2-40B4-BE49-F238E27FC236}">
              <a16:creationId xmlns:a16="http://schemas.microsoft.com/office/drawing/2014/main" id="{59B10AB4-7DD4-898C-7A67-E1675B21909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33AC48F-F067-FB6A-B524-B195CAAA0114}"/>
              </a:ext>
            </a:extLst>
          </p:cNvPr>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64D5DAE6-3CDD-4EF0-6004-0D27B1E169A9}"/>
              </a:ext>
            </a:extLst>
          </p:cNvPr>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73B5376F-D666-1052-55E4-D4A43B9C64E8}"/>
              </a:ext>
            </a:extLst>
          </p:cNvPr>
          <p:cNvSpPr/>
          <p:nvPr/>
        </p:nvSpPr>
        <p:spPr>
          <a:xfrm>
            <a:off x="16614884" y="273926"/>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a:extLst>
              <a:ext uri="{FF2B5EF4-FFF2-40B4-BE49-F238E27FC236}">
                <a16:creationId xmlns:a16="http://schemas.microsoft.com/office/drawing/2014/main" id="{E61AA366-63AF-700C-E0B5-844BEA972450}"/>
              </a:ext>
            </a:extLst>
          </p:cNvPr>
          <p:cNvSpPr/>
          <p:nvPr/>
        </p:nvSpPr>
        <p:spPr>
          <a:xfrm>
            <a:off x="16970051" y="629093"/>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a:extLst>
              <a:ext uri="{FF2B5EF4-FFF2-40B4-BE49-F238E27FC236}">
                <a16:creationId xmlns:a16="http://schemas.microsoft.com/office/drawing/2014/main" id="{23D4C7F9-BF93-1BA7-723D-6A21968B80C8}"/>
              </a:ext>
            </a:extLst>
          </p:cNvPr>
          <p:cNvGrpSpPr/>
          <p:nvPr/>
        </p:nvGrpSpPr>
        <p:grpSpPr>
          <a:xfrm>
            <a:off x="14654404" y="9149912"/>
            <a:ext cx="3911463" cy="3911463"/>
            <a:chOff x="0" y="0"/>
            <a:chExt cx="812800" cy="812800"/>
          </a:xfrm>
        </p:grpSpPr>
        <p:sp>
          <p:nvSpPr>
            <p:cNvPr id="7" name="Freeform 7">
              <a:extLst>
                <a:ext uri="{FF2B5EF4-FFF2-40B4-BE49-F238E27FC236}">
                  <a16:creationId xmlns:a16="http://schemas.microsoft.com/office/drawing/2014/main" id="{B61849B9-8574-74F5-7C14-F4C1C845543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a:extLst>
                <a:ext uri="{FF2B5EF4-FFF2-40B4-BE49-F238E27FC236}">
                  <a16:creationId xmlns:a16="http://schemas.microsoft.com/office/drawing/2014/main" id="{5DB3EEC9-6189-5A87-067E-ED2CEDA7E16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12C63EF3-A7EE-7F25-943D-5BC12E87F869}"/>
              </a:ext>
            </a:extLst>
          </p:cNvPr>
          <p:cNvSpPr/>
          <p:nvPr/>
        </p:nvSpPr>
        <p:spPr>
          <a:xfrm>
            <a:off x="17383018" y="1051912"/>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Freeform 10">
            <a:extLst>
              <a:ext uri="{FF2B5EF4-FFF2-40B4-BE49-F238E27FC236}">
                <a16:creationId xmlns:a16="http://schemas.microsoft.com/office/drawing/2014/main" id="{FBDA40F0-A639-AC1E-39C0-916EF13C36BB}"/>
              </a:ext>
            </a:extLst>
          </p:cNvPr>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a:extLst>
              <a:ext uri="{FF2B5EF4-FFF2-40B4-BE49-F238E27FC236}">
                <a16:creationId xmlns:a16="http://schemas.microsoft.com/office/drawing/2014/main" id="{C37E86EB-7CCA-FD07-CCF7-3A4F408A9526}"/>
              </a:ext>
            </a:extLst>
          </p:cNvPr>
          <p:cNvGrpSpPr/>
          <p:nvPr/>
        </p:nvGrpSpPr>
        <p:grpSpPr>
          <a:xfrm>
            <a:off x="1291842" y="-2859528"/>
            <a:ext cx="3911463" cy="3911463"/>
            <a:chOff x="0" y="0"/>
            <a:chExt cx="812800" cy="812800"/>
          </a:xfrm>
        </p:grpSpPr>
        <p:sp>
          <p:nvSpPr>
            <p:cNvPr id="12" name="Freeform 12">
              <a:extLst>
                <a:ext uri="{FF2B5EF4-FFF2-40B4-BE49-F238E27FC236}">
                  <a16:creationId xmlns:a16="http://schemas.microsoft.com/office/drawing/2014/main" id="{2650F9BA-2DF2-E7E2-65F9-44675E36D09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a:extLst>
                <a:ext uri="{FF2B5EF4-FFF2-40B4-BE49-F238E27FC236}">
                  <a16:creationId xmlns:a16="http://schemas.microsoft.com/office/drawing/2014/main" id="{1D9DE14D-206A-2006-44FC-6A927D13F41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8EAF78EF-2C00-3BAE-B1D6-B768A4A32A96}"/>
              </a:ext>
            </a:extLst>
          </p:cNvPr>
          <p:cNvSpPr txBox="1"/>
          <p:nvPr/>
        </p:nvSpPr>
        <p:spPr>
          <a:xfrm>
            <a:off x="367573" y="796902"/>
            <a:ext cx="17543000" cy="1308050"/>
          </a:xfrm>
          <a:prstGeom prst="rect">
            <a:avLst/>
          </a:prstGeom>
        </p:spPr>
        <p:txBody>
          <a:bodyPr wrap="square" lIns="0" tIns="0" rIns="0" bIns="0" rtlCol="0" anchor="t">
            <a:spAutoFit/>
          </a:bodyPr>
          <a:lstStyle/>
          <a:p>
            <a:pPr algn="ctr"/>
            <a:r>
              <a:rPr lang="en-US" sz="8500" b="1">
                <a:solidFill>
                  <a:srgbClr val="474646"/>
                </a:solidFill>
                <a:latin typeface="Proxima Nova Bold"/>
                <a:ea typeface="Calibri"/>
                <a:cs typeface="Calibri"/>
              </a:rPr>
              <a:t>TECHNOLOGY USED</a:t>
            </a:r>
            <a:endParaRPr lang="en-US" sz="8500" b="1" dirty="0">
              <a:solidFill>
                <a:srgbClr val="474646"/>
              </a:solidFill>
              <a:latin typeface="Proxima Nova Bold"/>
              <a:ea typeface="Calibri"/>
              <a:cs typeface="Calibri"/>
            </a:endParaRPr>
          </a:p>
        </p:txBody>
      </p:sp>
      <p:sp>
        <p:nvSpPr>
          <p:cNvPr id="16" name="TextBox 15">
            <a:extLst>
              <a:ext uri="{FF2B5EF4-FFF2-40B4-BE49-F238E27FC236}">
                <a16:creationId xmlns:a16="http://schemas.microsoft.com/office/drawing/2014/main" id="{F3A3A706-8C64-1FD6-CC4C-B1883DEC3983}"/>
              </a:ext>
            </a:extLst>
          </p:cNvPr>
          <p:cNvSpPr txBox="1"/>
          <p:nvPr/>
        </p:nvSpPr>
        <p:spPr>
          <a:xfrm>
            <a:off x="2177611" y="2857500"/>
            <a:ext cx="13932775" cy="61863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700" b="1">
                <a:solidFill>
                  <a:srgbClr val="474646"/>
                </a:solidFill>
                <a:latin typeface="Nunito"/>
              </a:rPr>
              <a:t>1.Python:</a:t>
            </a:r>
            <a:r>
              <a:rPr lang="en-US" sz="2700" b="1">
                <a:solidFill>
                  <a:srgbClr val="474646"/>
                </a:solidFill>
                <a:latin typeface="Nunito"/>
                <a:ea typeface="+mn-lt"/>
                <a:cs typeface="+mn-lt"/>
              </a:rPr>
              <a:t> Used as the main programming language for data analysis and processing.</a:t>
            </a:r>
            <a:endParaRPr lang="en-US" sz="2700" b="1" dirty="0">
              <a:solidFill>
                <a:srgbClr val="474646"/>
              </a:solidFill>
              <a:latin typeface="Nunito"/>
            </a:endParaRPr>
          </a:p>
          <a:p>
            <a:pPr algn="just"/>
            <a:endParaRPr lang="en-US" sz="2700" b="1" dirty="0">
              <a:solidFill>
                <a:srgbClr val="474646"/>
              </a:solidFill>
              <a:latin typeface="Nunito"/>
              <a:ea typeface="Calibri"/>
              <a:cs typeface="Calibri"/>
            </a:endParaRPr>
          </a:p>
          <a:p>
            <a:pPr algn="just"/>
            <a:r>
              <a:rPr lang="en-US" sz="2700" b="1" dirty="0">
                <a:solidFill>
                  <a:srgbClr val="474646"/>
                </a:solidFill>
                <a:latin typeface="Nunito"/>
              </a:rPr>
              <a:t>2.Pandas:</a:t>
            </a:r>
            <a:r>
              <a:rPr lang="en-US" sz="2700" b="1" dirty="0">
                <a:solidFill>
                  <a:srgbClr val="474646"/>
                </a:solidFill>
                <a:latin typeface="Nunito"/>
                <a:ea typeface="+mn-lt"/>
                <a:cs typeface="+mn-lt"/>
              </a:rPr>
              <a:t> Used to load, clean, organize, and analyze the </a:t>
            </a:r>
            <a:r>
              <a:rPr lang="en-US" sz="2700" b="1" dirty="0" err="1">
                <a:solidFill>
                  <a:srgbClr val="474646"/>
                </a:solidFill>
                <a:latin typeface="Nunito"/>
                <a:ea typeface="+mn-lt"/>
                <a:cs typeface="+mn-lt"/>
              </a:rPr>
              <a:t>CarDekho</a:t>
            </a:r>
            <a:r>
              <a:rPr lang="en-US" sz="2700" b="1" dirty="0">
                <a:solidFill>
                  <a:srgbClr val="474646"/>
                </a:solidFill>
                <a:latin typeface="Nunito"/>
                <a:ea typeface="+mn-lt"/>
                <a:cs typeface="+mn-lt"/>
              </a:rPr>
              <a:t> dataset.</a:t>
            </a:r>
            <a:endParaRPr lang="en-US" sz="2700" b="1" dirty="0">
              <a:solidFill>
                <a:srgbClr val="474646"/>
              </a:solidFill>
              <a:latin typeface="Nunito"/>
            </a:endParaRPr>
          </a:p>
          <a:p>
            <a:pPr algn="just"/>
            <a:endParaRPr lang="en-US" sz="2700" b="1" dirty="0">
              <a:solidFill>
                <a:srgbClr val="474646"/>
              </a:solidFill>
              <a:latin typeface="Nunito"/>
              <a:ea typeface="Calibri"/>
              <a:cs typeface="Calibri"/>
            </a:endParaRPr>
          </a:p>
          <a:p>
            <a:pPr algn="just"/>
            <a:r>
              <a:rPr lang="en-US" sz="2700" b="1">
                <a:solidFill>
                  <a:srgbClr val="474646"/>
                </a:solidFill>
                <a:latin typeface="Nunito"/>
              </a:rPr>
              <a:t>3.Matplotlib: </a:t>
            </a:r>
            <a:r>
              <a:rPr lang="en-US" sz="2700" b="1">
                <a:solidFill>
                  <a:srgbClr val="474646"/>
                </a:solidFill>
                <a:latin typeface="Nunito"/>
                <a:ea typeface="+mn-lt"/>
                <a:cs typeface="+mn-lt"/>
              </a:rPr>
              <a:t>Used to create graphs and visualizations to represent the analyzed data.</a:t>
            </a:r>
            <a:endParaRPr lang="en-US" sz="2700" b="1" dirty="0">
              <a:solidFill>
                <a:srgbClr val="474646"/>
              </a:solidFill>
              <a:latin typeface="Nunito"/>
            </a:endParaRPr>
          </a:p>
          <a:p>
            <a:pPr algn="just"/>
            <a:endParaRPr lang="en-US" sz="2700" b="1" dirty="0">
              <a:solidFill>
                <a:srgbClr val="474646"/>
              </a:solidFill>
              <a:latin typeface="Nunito"/>
              <a:ea typeface="Calibri"/>
              <a:cs typeface="Calibri"/>
            </a:endParaRPr>
          </a:p>
          <a:p>
            <a:pPr algn="just"/>
            <a:r>
              <a:rPr lang="en-US" sz="2700" b="1">
                <a:solidFill>
                  <a:srgbClr val="474646"/>
                </a:solidFill>
                <a:latin typeface="Nunito"/>
              </a:rPr>
              <a:t>4.Seaborn: </a:t>
            </a:r>
            <a:r>
              <a:rPr lang="en-US" sz="2700" b="1">
                <a:solidFill>
                  <a:srgbClr val="474646"/>
                </a:solidFill>
                <a:latin typeface="Nunito"/>
                <a:ea typeface="+mn-lt"/>
                <a:cs typeface="+mn-lt"/>
              </a:rPr>
              <a:t>Used to create clear and attractive statistical visualizations and identify relationships between different variables.</a:t>
            </a:r>
            <a:endParaRPr lang="en-US" sz="2700" b="1" dirty="0">
              <a:solidFill>
                <a:srgbClr val="474646"/>
              </a:solidFill>
              <a:latin typeface="Nunito"/>
            </a:endParaRPr>
          </a:p>
          <a:p>
            <a:pPr algn="just"/>
            <a:endParaRPr lang="en-US" sz="2700" b="1" dirty="0">
              <a:solidFill>
                <a:srgbClr val="474646"/>
              </a:solidFill>
              <a:latin typeface="Nunito"/>
              <a:ea typeface="Calibri"/>
              <a:cs typeface="Calibri"/>
            </a:endParaRPr>
          </a:p>
          <a:p>
            <a:pPr algn="just"/>
            <a:r>
              <a:rPr lang="en-US" sz="2700" b="1" dirty="0">
                <a:solidFill>
                  <a:srgbClr val="474646"/>
                </a:solidFill>
                <a:latin typeface="Nunito"/>
              </a:rPr>
              <a:t>5.Google </a:t>
            </a:r>
            <a:r>
              <a:rPr lang="en-US" sz="2700" b="1" dirty="0" err="1">
                <a:solidFill>
                  <a:srgbClr val="474646"/>
                </a:solidFill>
                <a:latin typeface="Nunito"/>
              </a:rPr>
              <a:t>Colab</a:t>
            </a:r>
            <a:r>
              <a:rPr lang="en-US" sz="2700" b="1" dirty="0">
                <a:solidFill>
                  <a:srgbClr val="474646"/>
                </a:solidFill>
                <a:latin typeface="Nunito"/>
              </a:rPr>
              <a:t> / Jupyter Notebook: </a:t>
            </a:r>
            <a:r>
              <a:rPr lang="en-US" sz="2700" b="1" dirty="0">
                <a:solidFill>
                  <a:srgbClr val="474646"/>
                </a:solidFill>
                <a:latin typeface="Nunito"/>
                <a:ea typeface="+mn-lt"/>
                <a:cs typeface="+mn-lt"/>
              </a:rPr>
              <a:t>Used as the development environment to write and execute the Python code.</a:t>
            </a:r>
            <a:endParaRPr lang="en-US" sz="2700" b="1" dirty="0">
              <a:solidFill>
                <a:srgbClr val="474646"/>
              </a:solidFill>
              <a:latin typeface="Nunito"/>
            </a:endParaRPr>
          </a:p>
          <a:p>
            <a:pPr algn="just"/>
            <a:endParaRPr lang="en-US" sz="2700" b="1" dirty="0">
              <a:solidFill>
                <a:srgbClr val="474646"/>
              </a:solidFill>
              <a:latin typeface="Nunito"/>
              <a:ea typeface="Calibri"/>
              <a:cs typeface="Calibri"/>
            </a:endParaRPr>
          </a:p>
          <a:p>
            <a:pPr algn="just"/>
            <a:r>
              <a:rPr lang="en-US" sz="2700" b="1" dirty="0">
                <a:solidFill>
                  <a:srgbClr val="474646"/>
                </a:solidFill>
                <a:latin typeface="Nunito"/>
              </a:rPr>
              <a:t>6.CSV Dataset:</a:t>
            </a:r>
            <a:r>
              <a:rPr lang="en-US" sz="2700" b="1" dirty="0">
                <a:solidFill>
                  <a:srgbClr val="474646"/>
                </a:solidFill>
                <a:latin typeface="Nunito"/>
                <a:ea typeface="+mn-lt"/>
                <a:cs typeface="+mn-lt"/>
              </a:rPr>
              <a:t> The </a:t>
            </a:r>
            <a:r>
              <a:rPr lang="en-US" sz="2700" b="1" dirty="0" err="1">
                <a:solidFill>
                  <a:srgbClr val="474646"/>
                </a:solidFill>
                <a:latin typeface="Nunito"/>
                <a:ea typeface="+mn-lt"/>
                <a:cs typeface="+mn-lt"/>
              </a:rPr>
              <a:t>CarDekho</a:t>
            </a:r>
            <a:r>
              <a:rPr lang="en-US" sz="2700" b="1" dirty="0">
                <a:solidFill>
                  <a:srgbClr val="474646"/>
                </a:solidFill>
                <a:latin typeface="Nunito"/>
                <a:ea typeface="+mn-lt"/>
                <a:cs typeface="+mn-lt"/>
              </a:rPr>
              <a:t> dataset is used as the primary source of data for the project.</a:t>
            </a:r>
            <a:endParaRPr lang="en-US" sz="2700" b="1" dirty="0">
              <a:solidFill>
                <a:srgbClr val="474646"/>
              </a:solidFill>
              <a:latin typeface="Nunito"/>
            </a:endParaRPr>
          </a:p>
          <a:p>
            <a:endParaRPr lang="en-US" dirty="0">
              <a:latin typeface="Calibri"/>
              <a:ea typeface="Calibri"/>
              <a:cs typeface="Calibri"/>
            </a:endParaRPr>
          </a:p>
        </p:txBody>
      </p:sp>
    </p:spTree>
    <p:extLst>
      <p:ext uri="{BB962C8B-B14F-4D97-AF65-F5344CB8AC3E}">
        <p14:creationId xmlns:p14="http://schemas.microsoft.com/office/powerpoint/2010/main" val="3327061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12319137" y="9258300"/>
            <a:ext cx="3911463" cy="391146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Freeform 10"/>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2129385" y="-2859528"/>
            <a:ext cx="3911463" cy="3911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4393493" y="612761"/>
            <a:ext cx="10202973" cy="1469248"/>
          </a:xfrm>
          <a:prstGeom prst="rect">
            <a:avLst/>
          </a:prstGeom>
        </p:spPr>
        <p:txBody>
          <a:bodyPr wrap="square" lIns="0" tIns="0" rIns="0" bIns="0" rtlCol="0" anchor="t">
            <a:spAutoFit/>
          </a:bodyPr>
          <a:lstStyle/>
          <a:p>
            <a:pPr algn="ctr">
              <a:lnSpc>
                <a:spcPts val="12599"/>
              </a:lnSpc>
            </a:pPr>
            <a:r>
              <a:rPr lang="en-US" sz="9000" b="1">
                <a:solidFill>
                  <a:srgbClr val="474646"/>
                </a:solidFill>
                <a:latin typeface="Proxima Nova Bold"/>
                <a:ea typeface="Proxima Nova Bold"/>
                <a:cs typeface="Proxima Nova Bold"/>
                <a:sym typeface="Proxima Nova Bold"/>
              </a:rPr>
              <a:t>DATA CLEANING</a:t>
            </a:r>
            <a:endParaRPr lang="en-US" sz="9000" b="1">
              <a:solidFill>
                <a:srgbClr val="474646"/>
              </a:solidFill>
              <a:latin typeface="Proxima Nova Bold"/>
              <a:ea typeface="Proxima Nova Bold"/>
              <a:cs typeface="Proxima Nova Bold"/>
            </a:endParaRPr>
          </a:p>
        </p:txBody>
      </p:sp>
      <p:sp>
        <p:nvSpPr>
          <p:cNvPr id="15" name="TextBox 15"/>
          <p:cNvSpPr txBox="1"/>
          <p:nvPr/>
        </p:nvSpPr>
        <p:spPr>
          <a:xfrm>
            <a:off x="1698071" y="2227860"/>
            <a:ext cx="15595946" cy="981038"/>
          </a:xfrm>
          <a:prstGeom prst="rect">
            <a:avLst/>
          </a:prstGeom>
        </p:spPr>
        <p:txBody>
          <a:bodyPr wrap="square" lIns="0" tIns="0" rIns="0" bIns="0" rtlCol="0" anchor="t">
            <a:spAutoFit/>
          </a:bodyPr>
          <a:lstStyle/>
          <a:p>
            <a:pPr algn="just">
              <a:lnSpc>
                <a:spcPts val="3919"/>
              </a:lnSpc>
            </a:pPr>
            <a:r>
              <a:rPr lang="en-US" sz="2700" b="1" dirty="0">
                <a:solidFill>
                  <a:srgbClr val="474646"/>
                </a:solidFill>
                <a:latin typeface="Nunito"/>
                <a:ea typeface="+mn-lt"/>
                <a:cs typeface="+mn-lt"/>
              </a:rPr>
              <a:t>Data Cleaning</a:t>
            </a:r>
            <a:r>
              <a:rPr lang="en-US" sz="2700" dirty="0">
                <a:solidFill>
                  <a:srgbClr val="474646"/>
                </a:solidFill>
                <a:latin typeface="Nunito"/>
                <a:ea typeface="+mn-lt"/>
                <a:cs typeface="+mn-lt"/>
              </a:rPr>
              <a:t> is the process of preparing the </a:t>
            </a:r>
            <a:r>
              <a:rPr lang="en-US" sz="2700" dirty="0" err="1">
                <a:solidFill>
                  <a:srgbClr val="474646"/>
                </a:solidFill>
                <a:latin typeface="Nunito"/>
                <a:ea typeface="+mn-lt"/>
                <a:cs typeface="+mn-lt"/>
              </a:rPr>
              <a:t>CarDekho</a:t>
            </a:r>
            <a:r>
              <a:rPr lang="en-US" sz="2700" dirty="0">
                <a:solidFill>
                  <a:srgbClr val="474646"/>
                </a:solidFill>
                <a:latin typeface="Nunito"/>
                <a:ea typeface="+mn-lt"/>
                <a:cs typeface="+mn-lt"/>
              </a:rPr>
              <a:t> dataset for accurate analysis. The dataset was checked for missing values, duplicate records, incorrect data types, and inconsistencies.</a:t>
            </a:r>
            <a:endParaRPr lang="en-US" sz="2700">
              <a:solidFill>
                <a:srgbClr val="474646"/>
              </a:solidFill>
              <a:latin typeface="Nunito"/>
              <a:ea typeface="+mn-lt"/>
              <a:cs typeface="+mn-lt"/>
            </a:endParaRPr>
          </a:p>
        </p:txBody>
      </p:sp>
      <p:sp>
        <p:nvSpPr>
          <p:cNvPr id="16" name="TextBox 15">
            <a:extLst>
              <a:ext uri="{FF2B5EF4-FFF2-40B4-BE49-F238E27FC236}">
                <a16:creationId xmlns:a16="http://schemas.microsoft.com/office/drawing/2014/main" id="{F01D8D06-E084-6AEB-7397-76423B1D4F97}"/>
              </a:ext>
            </a:extLst>
          </p:cNvPr>
          <p:cNvSpPr txBox="1"/>
          <p:nvPr/>
        </p:nvSpPr>
        <p:spPr>
          <a:xfrm>
            <a:off x="1740198" y="3525170"/>
            <a:ext cx="15563088" cy="60478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500" b="1">
                <a:solidFill>
                  <a:srgbClr val="474646"/>
                </a:solidFill>
                <a:latin typeface="Nunito"/>
              </a:rPr>
              <a:t>Initial Dataset</a:t>
            </a:r>
            <a:endParaRPr lang="en-US" sz="2500" b="1">
              <a:solidFill>
                <a:srgbClr val="474646"/>
              </a:solidFill>
              <a:latin typeface="Nunito"/>
              <a:ea typeface="Calibri"/>
              <a:cs typeface="Calibri"/>
            </a:endParaRPr>
          </a:p>
          <a:p>
            <a:pPr algn="ctr"/>
            <a:r>
              <a:rPr lang="en-US" sz="2500" b="1">
                <a:solidFill>
                  <a:srgbClr val="474646"/>
                </a:solidFill>
                <a:latin typeface="Nunito"/>
              </a:rPr>
              <a:t>301</a:t>
            </a:r>
            <a:endParaRPr lang="en-US" sz="2500" b="1">
              <a:solidFill>
                <a:srgbClr val="474646"/>
              </a:solidFill>
              <a:latin typeface="Nunito"/>
              <a:ea typeface="Calibri"/>
              <a:cs typeface="Calibri"/>
            </a:endParaRPr>
          </a:p>
          <a:p>
            <a:pPr algn="ctr"/>
            <a:r>
              <a:rPr lang="en-US" sz="2500">
                <a:solidFill>
                  <a:srgbClr val="474646"/>
                </a:solidFill>
                <a:latin typeface="Nunito"/>
              </a:rPr>
              <a:t>Rows and 9 columns (No Missing Values Found)</a:t>
            </a:r>
            <a:endParaRPr lang="en-US" sz="2500" b="1">
              <a:solidFill>
                <a:srgbClr val="474646"/>
              </a:solidFill>
              <a:latin typeface="Nunito"/>
              <a:ea typeface="Calibri"/>
              <a:cs typeface="Calibri"/>
            </a:endParaRPr>
          </a:p>
          <a:p>
            <a:pPr algn="ctr"/>
            <a:r>
              <a:rPr lang="en-US" sz="2500" b="1">
                <a:solidFill>
                  <a:srgbClr val="474646"/>
                </a:solidFill>
                <a:latin typeface="Nunito"/>
                <a:ea typeface="Calibri"/>
                <a:cs typeface="Calibri"/>
              </a:rPr>
              <a:t>|</a:t>
            </a:r>
          </a:p>
          <a:p>
            <a:pPr algn="ctr"/>
            <a:r>
              <a:rPr lang="en-US" sz="2500" b="1">
                <a:solidFill>
                  <a:srgbClr val="474646"/>
                </a:solidFill>
                <a:latin typeface="Nunito"/>
                <a:ea typeface="Calibri"/>
                <a:cs typeface="Calibri"/>
              </a:rPr>
              <a:t>|</a:t>
            </a:r>
          </a:p>
          <a:p>
            <a:pPr algn="ctr"/>
            <a:r>
              <a:rPr lang="en-US" sz="2500" b="1">
                <a:solidFill>
                  <a:srgbClr val="474646"/>
                </a:solidFill>
                <a:latin typeface="Nunito"/>
                <a:ea typeface="Calibri"/>
                <a:cs typeface="Calibri"/>
              </a:rPr>
              <a:t>V</a:t>
            </a:r>
          </a:p>
          <a:p>
            <a:pPr algn="ctr"/>
            <a:r>
              <a:rPr lang="en-US" sz="2500" b="1">
                <a:solidFill>
                  <a:srgbClr val="474646"/>
                </a:solidFill>
                <a:latin typeface="Nunito"/>
              </a:rPr>
              <a:t>After Cleaning</a:t>
            </a:r>
            <a:endParaRPr lang="en-US" sz="2500" b="1">
              <a:solidFill>
                <a:srgbClr val="474646"/>
              </a:solidFill>
              <a:latin typeface="Nunito"/>
              <a:ea typeface="Calibri"/>
              <a:cs typeface="Calibri"/>
            </a:endParaRPr>
          </a:p>
          <a:p>
            <a:pPr algn="ctr"/>
            <a:r>
              <a:rPr lang="en-US" sz="2500" b="1">
                <a:solidFill>
                  <a:srgbClr val="474646"/>
                </a:solidFill>
                <a:latin typeface="Nunito"/>
              </a:rPr>
              <a:t>299</a:t>
            </a:r>
            <a:endParaRPr lang="en-US" sz="2500" b="1">
              <a:solidFill>
                <a:srgbClr val="474646"/>
              </a:solidFill>
              <a:latin typeface="Nunito"/>
              <a:ea typeface="Calibri"/>
              <a:cs typeface="Calibri"/>
            </a:endParaRPr>
          </a:p>
          <a:p>
            <a:pPr algn="ctr"/>
            <a:r>
              <a:rPr lang="en-US" sz="2500" dirty="0">
                <a:solidFill>
                  <a:srgbClr val="474646"/>
                </a:solidFill>
                <a:latin typeface="Nunito"/>
              </a:rPr>
              <a:t>Unique records retained (Duplicate </a:t>
            </a:r>
            <a:r>
              <a:rPr lang="en-US" sz="2500">
                <a:solidFill>
                  <a:srgbClr val="474646"/>
                </a:solidFill>
                <a:latin typeface="Nunito"/>
              </a:rPr>
              <a:t>Records</a:t>
            </a:r>
            <a:r>
              <a:rPr lang="en-US" sz="2500" dirty="0">
                <a:solidFill>
                  <a:srgbClr val="474646"/>
                </a:solidFill>
                <a:latin typeface="Nunito"/>
              </a:rPr>
              <a:t> Deleted)</a:t>
            </a:r>
            <a:endParaRPr lang="en-US" sz="2500">
              <a:solidFill>
                <a:srgbClr val="474646"/>
              </a:solidFill>
              <a:latin typeface="Nunito"/>
              <a:ea typeface="Calibri"/>
              <a:cs typeface="Calibri"/>
            </a:endParaRPr>
          </a:p>
          <a:p>
            <a:pPr algn="ctr"/>
            <a:endParaRPr lang="en-US" dirty="0">
              <a:solidFill>
                <a:srgbClr val="474646"/>
              </a:solidFill>
              <a:ea typeface="Calibri"/>
              <a:cs typeface="Calibri"/>
            </a:endParaRPr>
          </a:p>
          <a:p>
            <a:pPr algn="ctr"/>
            <a:endParaRPr lang="en-US" dirty="0">
              <a:solidFill>
                <a:srgbClr val="474646"/>
              </a:solidFill>
              <a:latin typeface="Calibri"/>
              <a:ea typeface="+mn-lt"/>
              <a:cs typeface="+mn-lt"/>
            </a:endParaRPr>
          </a:p>
          <a:p>
            <a:pPr marL="457200" indent="-457200" algn="just">
              <a:buFont typeface="Arial"/>
              <a:buChar char="•"/>
            </a:pPr>
            <a:r>
              <a:rPr lang="en-US" sz="2700">
                <a:solidFill>
                  <a:srgbClr val="474646"/>
                </a:solidFill>
                <a:latin typeface="Nunito"/>
                <a:ea typeface="+mn-lt"/>
                <a:cs typeface="+mn-lt"/>
              </a:rPr>
              <a:t>Checked dataset size, column names, and data types.</a:t>
            </a:r>
            <a:endParaRPr lang="en-US" sz="2700">
              <a:solidFill>
                <a:srgbClr val="474646"/>
              </a:solidFill>
              <a:latin typeface="Nunito"/>
            </a:endParaRPr>
          </a:p>
          <a:p>
            <a:pPr marL="457200" indent="-457200" algn="just">
              <a:buFont typeface="Arial"/>
              <a:buChar char="•"/>
            </a:pPr>
            <a:r>
              <a:rPr lang="en-US" sz="2700">
                <a:solidFill>
                  <a:srgbClr val="474646"/>
                </a:solidFill>
                <a:latin typeface="Nunito"/>
                <a:ea typeface="+mn-lt"/>
                <a:cs typeface="+mn-lt"/>
              </a:rPr>
              <a:t>Verified that no missing values were present in any column.</a:t>
            </a:r>
            <a:endParaRPr lang="en-US" sz="2700">
              <a:solidFill>
                <a:srgbClr val="474646"/>
              </a:solidFill>
              <a:latin typeface="Nunito"/>
            </a:endParaRPr>
          </a:p>
          <a:p>
            <a:pPr marL="457200" indent="-457200" algn="just">
              <a:buFont typeface="Arial"/>
              <a:buChar char="•"/>
            </a:pPr>
            <a:r>
              <a:rPr lang="en-US" sz="2700">
                <a:solidFill>
                  <a:srgbClr val="474646"/>
                </a:solidFill>
                <a:latin typeface="Nunito"/>
                <a:ea typeface="+mn-lt"/>
                <a:cs typeface="+mn-lt"/>
              </a:rPr>
              <a:t>Identified and removed 2 duplicate records.</a:t>
            </a:r>
            <a:endParaRPr lang="en-US" sz="2700">
              <a:solidFill>
                <a:srgbClr val="474646"/>
              </a:solidFill>
              <a:latin typeface="Nunito"/>
            </a:endParaRPr>
          </a:p>
          <a:p>
            <a:pPr marL="457200" indent="-457200" algn="just">
              <a:buFont typeface="Arial"/>
              <a:buChar char="•"/>
            </a:pPr>
            <a:r>
              <a:rPr lang="en-US" sz="2700">
                <a:solidFill>
                  <a:srgbClr val="474646"/>
                </a:solidFill>
                <a:latin typeface="Nunito"/>
                <a:ea typeface="+mn-lt"/>
                <a:cs typeface="+mn-lt"/>
              </a:rPr>
              <a:t>Confirmed that all columns had appropriate data types for analysis.</a:t>
            </a:r>
            <a:endParaRPr lang="en-US" sz="2700">
              <a:solidFill>
                <a:srgbClr val="474646"/>
              </a:solidFill>
              <a:latin typeface="Nunito"/>
            </a:endParaRPr>
          </a:p>
          <a:p>
            <a:pPr marL="285750" indent="-285750" algn="just">
              <a:buFont typeface="Arial"/>
              <a:buChar char="•"/>
            </a:pPr>
            <a:endParaRPr lang="en-US" dirty="0">
              <a:ea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a:extLst>
            <a:ext uri="{FF2B5EF4-FFF2-40B4-BE49-F238E27FC236}">
              <a16:creationId xmlns:a16="http://schemas.microsoft.com/office/drawing/2014/main" id="{5C978927-E25E-90B3-C326-0D7394C7891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D8ADE61-9058-37FF-157E-B97166F4FFB1}"/>
              </a:ext>
            </a:extLst>
          </p:cNvPr>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777F4AE0-8E95-2996-FEF8-1F4CE0CA5E50}"/>
              </a:ext>
            </a:extLst>
          </p:cNvPr>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52A8EB04-A44D-AF57-D786-18A097666789}"/>
              </a:ext>
            </a:extLst>
          </p:cNvPr>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a:extLst>
              <a:ext uri="{FF2B5EF4-FFF2-40B4-BE49-F238E27FC236}">
                <a16:creationId xmlns:a16="http://schemas.microsoft.com/office/drawing/2014/main" id="{EE0FCC3E-09AA-11AE-7992-FBE84B8AB572}"/>
              </a:ext>
            </a:extLst>
          </p:cNvPr>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a:extLst>
              <a:ext uri="{FF2B5EF4-FFF2-40B4-BE49-F238E27FC236}">
                <a16:creationId xmlns:a16="http://schemas.microsoft.com/office/drawing/2014/main" id="{ACE051E8-13C6-D7CB-EC05-12CFB8FA8588}"/>
              </a:ext>
            </a:extLst>
          </p:cNvPr>
          <p:cNvGrpSpPr/>
          <p:nvPr/>
        </p:nvGrpSpPr>
        <p:grpSpPr>
          <a:xfrm>
            <a:off x="12319137" y="9258300"/>
            <a:ext cx="3911463" cy="3911463"/>
            <a:chOff x="0" y="0"/>
            <a:chExt cx="812800" cy="812800"/>
          </a:xfrm>
        </p:grpSpPr>
        <p:sp>
          <p:nvSpPr>
            <p:cNvPr id="7" name="Freeform 7">
              <a:extLst>
                <a:ext uri="{FF2B5EF4-FFF2-40B4-BE49-F238E27FC236}">
                  <a16:creationId xmlns:a16="http://schemas.microsoft.com/office/drawing/2014/main" id="{6BF6EF6C-085F-08FB-63EA-DFB93212C42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a:extLst>
                <a:ext uri="{FF2B5EF4-FFF2-40B4-BE49-F238E27FC236}">
                  <a16:creationId xmlns:a16="http://schemas.microsoft.com/office/drawing/2014/main" id="{66F7F5F3-C6A4-2B51-3410-A68DC48EF2B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E1376D19-F1F7-27DC-542F-69A467B10585}"/>
              </a:ext>
            </a:extLst>
          </p:cNvPr>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Freeform 10">
            <a:extLst>
              <a:ext uri="{FF2B5EF4-FFF2-40B4-BE49-F238E27FC236}">
                <a16:creationId xmlns:a16="http://schemas.microsoft.com/office/drawing/2014/main" id="{30298FA8-2212-E010-B7D9-396C24AD92C9}"/>
              </a:ext>
            </a:extLst>
          </p:cNvPr>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a:extLst>
              <a:ext uri="{FF2B5EF4-FFF2-40B4-BE49-F238E27FC236}">
                <a16:creationId xmlns:a16="http://schemas.microsoft.com/office/drawing/2014/main" id="{6FAC5C3E-5A38-F454-1C1E-022765C7A9AF}"/>
              </a:ext>
            </a:extLst>
          </p:cNvPr>
          <p:cNvGrpSpPr/>
          <p:nvPr/>
        </p:nvGrpSpPr>
        <p:grpSpPr>
          <a:xfrm>
            <a:off x="2129385" y="-2859528"/>
            <a:ext cx="3911463" cy="3911463"/>
            <a:chOff x="0" y="0"/>
            <a:chExt cx="812800" cy="812800"/>
          </a:xfrm>
        </p:grpSpPr>
        <p:sp>
          <p:nvSpPr>
            <p:cNvPr id="12" name="Freeform 12">
              <a:extLst>
                <a:ext uri="{FF2B5EF4-FFF2-40B4-BE49-F238E27FC236}">
                  <a16:creationId xmlns:a16="http://schemas.microsoft.com/office/drawing/2014/main" id="{DAE74E90-94E0-9778-6939-4771FAA8751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a:extLst>
                <a:ext uri="{FF2B5EF4-FFF2-40B4-BE49-F238E27FC236}">
                  <a16:creationId xmlns:a16="http://schemas.microsoft.com/office/drawing/2014/main" id="{56334617-DECB-A86A-4DEF-978897EDE07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F35FFD7C-C409-80AB-1283-FAA00BD016F2}"/>
              </a:ext>
            </a:extLst>
          </p:cNvPr>
          <p:cNvSpPr txBox="1"/>
          <p:nvPr/>
        </p:nvSpPr>
        <p:spPr>
          <a:xfrm>
            <a:off x="4393493" y="612761"/>
            <a:ext cx="10202973" cy="1469248"/>
          </a:xfrm>
          <a:prstGeom prst="rect">
            <a:avLst/>
          </a:prstGeom>
        </p:spPr>
        <p:txBody>
          <a:bodyPr wrap="square" lIns="0" tIns="0" rIns="0" bIns="0" rtlCol="0" anchor="t">
            <a:spAutoFit/>
          </a:bodyPr>
          <a:lstStyle/>
          <a:p>
            <a:pPr algn="ctr">
              <a:lnSpc>
                <a:spcPts val="12599"/>
              </a:lnSpc>
            </a:pPr>
            <a:r>
              <a:rPr lang="en-US" sz="9000" b="1">
                <a:solidFill>
                  <a:srgbClr val="474646"/>
                </a:solidFill>
                <a:latin typeface="Proxima Nova Bold"/>
                <a:ea typeface="Proxima Nova Bold"/>
                <a:cs typeface="Proxima Nova Bold"/>
                <a:sym typeface="Proxima Nova Bold"/>
              </a:rPr>
              <a:t>DATA CLEANING</a:t>
            </a:r>
            <a:endParaRPr lang="en-US" sz="9000" b="1">
              <a:solidFill>
                <a:srgbClr val="474646"/>
              </a:solidFill>
              <a:latin typeface="Proxima Nova Bold"/>
              <a:ea typeface="Proxima Nova Bold"/>
              <a:cs typeface="Proxima Nova Bold"/>
            </a:endParaRPr>
          </a:p>
        </p:txBody>
      </p:sp>
      <p:sp>
        <p:nvSpPr>
          <p:cNvPr id="15" name="TextBox 15">
            <a:extLst>
              <a:ext uri="{FF2B5EF4-FFF2-40B4-BE49-F238E27FC236}">
                <a16:creationId xmlns:a16="http://schemas.microsoft.com/office/drawing/2014/main" id="{6F1B2ED8-A6A3-0FBF-DC8D-BF28DDC012B9}"/>
              </a:ext>
            </a:extLst>
          </p:cNvPr>
          <p:cNvSpPr txBox="1"/>
          <p:nvPr/>
        </p:nvSpPr>
        <p:spPr>
          <a:xfrm>
            <a:off x="2062649" y="2326395"/>
            <a:ext cx="15595946" cy="478593"/>
          </a:xfrm>
          <a:prstGeom prst="rect">
            <a:avLst/>
          </a:prstGeom>
        </p:spPr>
        <p:txBody>
          <a:bodyPr wrap="square" lIns="0" tIns="0" rIns="0" bIns="0" rtlCol="0" anchor="t">
            <a:spAutoFit/>
          </a:bodyPr>
          <a:lstStyle/>
          <a:p>
            <a:pPr algn="just">
              <a:lnSpc>
                <a:spcPts val="3919"/>
              </a:lnSpc>
            </a:pPr>
            <a:r>
              <a:rPr lang="en-US" sz="2700">
                <a:solidFill>
                  <a:srgbClr val="474646"/>
                </a:solidFill>
                <a:latin typeface="Nunito"/>
                <a:ea typeface="+mn-lt"/>
                <a:cs typeface="+mn-lt"/>
              </a:rPr>
              <a:t>The dataset was checked for missing values, and all 9 columns contained zero missing values.</a:t>
            </a:r>
          </a:p>
        </p:txBody>
      </p:sp>
      <p:pic>
        <p:nvPicPr>
          <p:cNvPr id="21" name="Picture 20">
            <a:extLst>
              <a:ext uri="{FF2B5EF4-FFF2-40B4-BE49-F238E27FC236}">
                <a16:creationId xmlns:a16="http://schemas.microsoft.com/office/drawing/2014/main" id="{D5E31E2C-1EDD-F8F7-1462-2DD76C78E63D}"/>
              </a:ext>
            </a:extLst>
          </p:cNvPr>
          <p:cNvPicPr>
            <a:picLocks noChangeAspect="1"/>
          </p:cNvPicPr>
          <p:nvPr/>
        </p:nvPicPr>
        <p:blipFill>
          <a:blip r:embed="rId3"/>
          <a:stretch>
            <a:fillRect/>
          </a:stretch>
        </p:blipFill>
        <p:spPr>
          <a:xfrm>
            <a:off x="3852698" y="3318325"/>
            <a:ext cx="10582606" cy="5936350"/>
          </a:xfrm>
          <a:prstGeom prst="rect">
            <a:avLst/>
          </a:prstGeom>
        </p:spPr>
      </p:pic>
    </p:spTree>
    <p:extLst>
      <p:ext uri="{BB962C8B-B14F-4D97-AF65-F5344CB8AC3E}">
        <p14:creationId xmlns:p14="http://schemas.microsoft.com/office/powerpoint/2010/main" val="3302010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a:extLst>
            <a:ext uri="{FF2B5EF4-FFF2-40B4-BE49-F238E27FC236}">
              <a16:creationId xmlns:a16="http://schemas.microsoft.com/office/drawing/2014/main" id="{F813B8CF-C2EF-A951-198F-3E1CD3C9423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1D3677C-338D-0EE6-87EA-8A7F8A2376CB}"/>
              </a:ext>
            </a:extLst>
          </p:cNvPr>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4170A1A9-68A0-D419-B192-83B829A5FEB2}"/>
              </a:ext>
            </a:extLst>
          </p:cNvPr>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069A8EDE-506C-DE8F-F037-69A8EA9A9BB4}"/>
              </a:ext>
            </a:extLst>
          </p:cNvPr>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a:extLst>
              <a:ext uri="{FF2B5EF4-FFF2-40B4-BE49-F238E27FC236}">
                <a16:creationId xmlns:a16="http://schemas.microsoft.com/office/drawing/2014/main" id="{BF0D79FA-AD94-A082-7D8F-0053ED3483F1}"/>
              </a:ext>
            </a:extLst>
          </p:cNvPr>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a:extLst>
              <a:ext uri="{FF2B5EF4-FFF2-40B4-BE49-F238E27FC236}">
                <a16:creationId xmlns:a16="http://schemas.microsoft.com/office/drawing/2014/main" id="{F802FFB2-D8BD-2CBE-C745-138595A4B23B}"/>
              </a:ext>
            </a:extLst>
          </p:cNvPr>
          <p:cNvGrpSpPr/>
          <p:nvPr/>
        </p:nvGrpSpPr>
        <p:grpSpPr>
          <a:xfrm>
            <a:off x="12319137" y="9258300"/>
            <a:ext cx="3911463" cy="3911463"/>
            <a:chOff x="0" y="0"/>
            <a:chExt cx="812800" cy="812800"/>
          </a:xfrm>
        </p:grpSpPr>
        <p:sp>
          <p:nvSpPr>
            <p:cNvPr id="7" name="Freeform 7">
              <a:extLst>
                <a:ext uri="{FF2B5EF4-FFF2-40B4-BE49-F238E27FC236}">
                  <a16:creationId xmlns:a16="http://schemas.microsoft.com/office/drawing/2014/main" id="{E43D9E50-3A2C-B20D-7A4A-5C159EBB9AE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a:extLst>
                <a:ext uri="{FF2B5EF4-FFF2-40B4-BE49-F238E27FC236}">
                  <a16:creationId xmlns:a16="http://schemas.microsoft.com/office/drawing/2014/main" id="{DE4664CF-BD0B-7BC7-549B-71F1679C755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2B56C06A-C301-D7CF-5FFA-F1DEF845C308}"/>
              </a:ext>
            </a:extLst>
          </p:cNvPr>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Freeform 10">
            <a:extLst>
              <a:ext uri="{FF2B5EF4-FFF2-40B4-BE49-F238E27FC236}">
                <a16:creationId xmlns:a16="http://schemas.microsoft.com/office/drawing/2014/main" id="{64C153AB-D1AA-E4FC-079F-4545F6C7A513}"/>
              </a:ext>
            </a:extLst>
          </p:cNvPr>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a:extLst>
              <a:ext uri="{FF2B5EF4-FFF2-40B4-BE49-F238E27FC236}">
                <a16:creationId xmlns:a16="http://schemas.microsoft.com/office/drawing/2014/main" id="{AD5B8290-D34F-8840-0237-EE61259203C9}"/>
              </a:ext>
            </a:extLst>
          </p:cNvPr>
          <p:cNvGrpSpPr/>
          <p:nvPr/>
        </p:nvGrpSpPr>
        <p:grpSpPr>
          <a:xfrm>
            <a:off x="2129385" y="-2859528"/>
            <a:ext cx="3911463" cy="3911463"/>
            <a:chOff x="0" y="0"/>
            <a:chExt cx="812800" cy="812800"/>
          </a:xfrm>
        </p:grpSpPr>
        <p:sp>
          <p:nvSpPr>
            <p:cNvPr id="12" name="Freeform 12">
              <a:extLst>
                <a:ext uri="{FF2B5EF4-FFF2-40B4-BE49-F238E27FC236}">
                  <a16:creationId xmlns:a16="http://schemas.microsoft.com/office/drawing/2014/main" id="{6C6B72D4-F3E3-835A-62A1-1E78E8CA339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a:extLst>
                <a:ext uri="{FF2B5EF4-FFF2-40B4-BE49-F238E27FC236}">
                  <a16:creationId xmlns:a16="http://schemas.microsoft.com/office/drawing/2014/main" id="{70DA4B91-BBD3-79D8-6830-2F040DC6BD61}"/>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B8CE65A4-239B-518D-7F04-C96C2D2590FF}"/>
              </a:ext>
            </a:extLst>
          </p:cNvPr>
          <p:cNvSpPr txBox="1"/>
          <p:nvPr/>
        </p:nvSpPr>
        <p:spPr>
          <a:xfrm>
            <a:off x="4393493" y="612761"/>
            <a:ext cx="10202973" cy="1469248"/>
          </a:xfrm>
          <a:prstGeom prst="rect">
            <a:avLst/>
          </a:prstGeom>
        </p:spPr>
        <p:txBody>
          <a:bodyPr wrap="square" lIns="0" tIns="0" rIns="0" bIns="0" rtlCol="0" anchor="t">
            <a:spAutoFit/>
          </a:bodyPr>
          <a:lstStyle/>
          <a:p>
            <a:pPr algn="ctr">
              <a:lnSpc>
                <a:spcPts val="12599"/>
              </a:lnSpc>
            </a:pPr>
            <a:r>
              <a:rPr lang="en-US" sz="9000" b="1">
                <a:solidFill>
                  <a:srgbClr val="474646"/>
                </a:solidFill>
                <a:latin typeface="Proxima Nova Bold"/>
                <a:ea typeface="Proxima Nova Bold"/>
                <a:cs typeface="Proxima Nova Bold"/>
                <a:sym typeface="Proxima Nova Bold"/>
              </a:rPr>
              <a:t>DATA CLEANING</a:t>
            </a:r>
            <a:endParaRPr lang="en-US" sz="9000" b="1">
              <a:solidFill>
                <a:srgbClr val="474646"/>
              </a:solidFill>
              <a:latin typeface="Proxima Nova Bold"/>
              <a:ea typeface="Proxima Nova Bold"/>
              <a:cs typeface="Proxima Nova Bold"/>
            </a:endParaRPr>
          </a:p>
        </p:txBody>
      </p:sp>
      <p:sp>
        <p:nvSpPr>
          <p:cNvPr id="15" name="TextBox 15">
            <a:extLst>
              <a:ext uri="{FF2B5EF4-FFF2-40B4-BE49-F238E27FC236}">
                <a16:creationId xmlns:a16="http://schemas.microsoft.com/office/drawing/2014/main" id="{52B69CA2-B147-B7D3-77FE-E204A99E41E2}"/>
              </a:ext>
            </a:extLst>
          </p:cNvPr>
          <p:cNvSpPr txBox="1"/>
          <p:nvPr/>
        </p:nvSpPr>
        <p:spPr>
          <a:xfrm>
            <a:off x="2062649" y="2267274"/>
            <a:ext cx="15595946" cy="478977"/>
          </a:xfrm>
          <a:prstGeom prst="rect">
            <a:avLst/>
          </a:prstGeom>
        </p:spPr>
        <p:txBody>
          <a:bodyPr wrap="square" lIns="0" tIns="0" rIns="0" bIns="0" rtlCol="0" anchor="t">
            <a:spAutoFit/>
          </a:bodyPr>
          <a:lstStyle/>
          <a:p>
            <a:pPr algn="just">
              <a:lnSpc>
                <a:spcPts val="3919"/>
              </a:lnSpc>
            </a:pPr>
            <a:r>
              <a:rPr lang="en-US" sz="2700">
                <a:solidFill>
                  <a:srgbClr val="474646"/>
                </a:solidFill>
                <a:latin typeface="Nunito"/>
                <a:ea typeface="+mn-lt"/>
                <a:cs typeface="+mn-lt"/>
              </a:rPr>
              <a:t>The data types of all 9 columns were verified and found to be appropriate for further analysis.</a:t>
            </a:r>
            <a:endParaRPr lang="en-US">
              <a:solidFill>
                <a:srgbClr val="474646"/>
              </a:solidFill>
              <a:latin typeface="Nunito"/>
            </a:endParaRPr>
          </a:p>
        </p:txBody>
      </p:sp>
      <p:pic>
        <p:nvPicPr>
          <p:cNvPr id="16" name="Picture 15">
            <a:extLst>
              <a:ext uri="{FF2B5EF4-FFF2-40B4-BE49-F238E27FC236}">
                <a16:creationId xmlns:a16="http://schemas.microsoft.com/office/drawing/2014/main" id="{9DA69990-E232-018D-A146-EF97E79B1C5F}"/>
              </a:ext>
            </a:extLst>
          </p:cNvPr>
          <p:cNvPicPr>
            <a:picLocks noChangeAspect="1"/>
          </p:cNvPicPr>
          <p:nvPr/>
        </p:nvPicPr>
        <p:blipFill>
          <a:blip r:embed="rId3"/>
          <a:stretch>
            <a:fillRect/>
          </a:stretch>
        </p:blipFill>
        <p:spPr>
          <a:xfrm>
            <a:off x="4089181" y="3281597"/>
            <a:ext cx="10651579" cy="5970393"/>
          </a:xfrm>
          <a:prstGeom prst="rect">
            <a:avLst/>
          </a:prstGeom>
        </p:spPr>
      </p:pic>
    </p:spTree>
    <p:extLst>
      <p:ext uri="{BB962C8B-B14F-4D97-AF65-F5344CB8AC3E}">
        <p14:creationId xmlns:p14="http://schemas.microsoft.com/office/powerpoint/2010/main" val="8249567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a:extLst>
            <a:ext uri="{FF2B5EF4-FFF2-40B4-BE49-F238E27FC236}">
              <a16:creationId xmlns:a16="http://schemas.microsoft.com/office/drawing/2014/main" id="{32B8FD3B-8966-59B2-44D6-80992F34787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A2970AE-38B0-3BF4-A4DE-7BC737706EE9}"/>
              </a:ext>
            </a:extLst>
          </p:cNvPr>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5D809B21-E6C4-959B-A2FC-202F6C7206C5}"/>
              </a:ext>
            </a:extLst>
          </p:cNvPr>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F5ED153C-475E-EEAA-69D9-822E98FC7BFD}"/>
              </a:ext>
            </a:extLst>
          </p:cNvPr>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a:extLst>
              <a:ext uri="{FF2B5EF4-FFF2-40B4-BE49-F238E27FC236}">
                <a16:creationId xmlns:a16="http://schemas.microsoft.com/office/drawing/2014/main" id="{8B495388-ECD6-DCAF-67CA-915E288DA930}"/>
              </a:ext>
            </a:extLst>
          </p:cNvPr>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a:extLst>
              <a:ext uri="{FF2B5EF4-FFF2-40B4-BE49-F238E27FC236}">
                <a16:creationId xmlns:a16="http://schemas.microsoft.com/office/drawing/2014/main" id="{0231D723-BADF-ACF1-7A65-EF632B8BAACC}"/>
              </a:ext>
            </a:extLst>
          </p:cNvPr>
          <p:cNvGrpSpPr/>
          <p:nvPr/>
        </p:nvGrpSpPr>
        <p:grpSpPr>
          <a:xfrm>
            <a:off x="12319137" y="9258300"/>
            <a:ext cx="3911463" cy="3911463"/>
            <a:chOff x="0" y="0"/>
            <a:chExt cx="812800" cy="812800"/>
          </a:xfrm>
        </p:grpSpPr>
        <p:sp>
          <p:nvSpPr>
            <p:cNvPr id="7" name="Freeform 7">
              <a:extLst>
                <a:ext uri="{FF2B5EF4-FFF2-40B4-BE49-F238E27FC236}">
                  <a16:creationId xmlns:a16="http://schemas.microsoft.com/office/drawing/2014/main" id="{6F825976-6805-ACE8-457B-64770CFD4FB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a:extLst>
                <a:ext uri="{FF2B5EF4-FFF2-40B4-BE49-F238E27FC236}">
                  <a16:creationId xmlns:a16="http://schemas.microsoft.com/office/drawing/2014/main" id="{F2881597-050A-ED68-9D0F-3EE0428746E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54048108-FDF2-FC05-E710-64082037E328}"/>
              </a:ext>
            </a:extLst>
          </p:cNvPr>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Freeform 10">
            <a:extLst>
              <a:ext uri="{FF2B5EF4-FFF2-40B4-BE49-F238E27FC236}">
                <a16:creationId xmlns:a16="http://schemas.microsoft.com/office/drawing/2014/main" id="{93B3FA8C-837E-6C94-85F0-7EDBFF2B32C3}"/>
              </a:ext>
            </a:extLst>
          </p:cNvPr>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a:extLst>
              <a:ext uri="{FF2B5EF4-FFF2-40B4-BE49-F238E27FC236}">
                <a16:creationId xmlns:a16="http://schemas.microsoft.com/office/drawing/2014/main" id="{6DD8CF50-E1C7-AD00-2DA5-B4953E8CA504}"/>
              </a:ext>
            </a:extLst>
          </p:cNvPr>
          <p:cNvGrpSpPr/>
          <p:nvPr/>
        </p:nvGrpSpPr>
        <p:grpSpPr>
          <a:xfrm>
            <a:off x="2129385" y="-2859528"/>
            <a:ext cx="3911463" cy="3911463"/>
            <a:chOff x="0" y="0"/>
            <a:chExt cx="812800" cy="812800"/>
          </a:xfrm>
        </p:grpSpPr>
        <p:sp>
          <p:nvSpPr>
            <p:cNvPr id="12" name="Freeform 12">
              <a:extLst>
                <a:ext uri="{FF2B5EF4-FFF2-40B4-BE49-F238E27FC236}">
                  <a16:creationId xmlns:a16="http://schemas.microsoft.com/office/drawing/2014/main" id="{9D6F9FC5-84E7-AA7C-7606-EE8623625E1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a:extLst>
                <a:ext uri="{FF2B5EF4-FFF2-40B4-BE49-F238E27FC236}">
                  <a16:creationId xmlns:a16="http://schemas.microsoft.com/office/drawing/2014/main" id="{1C7D02BB-C9B7-DA60-4CC6-E946C410C37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a:extLst>
              <a:ext uri="{FF2B5EF4-FFF2-40B4-BE49-F238E27FC236}">
                <a16:creationId xmlns:a16="http://schemas.microsoft.com/office/drawing/2014/main" id="{3BAD57BB-A8EA-F5C3-1069-2BCD9DE93F6A}"/>
              </a:ext>
            </a:extLst>
          </p:cNvPr>
          <p:cNvSpPr txBox="1"/>
          <p:nvPr/>
        </p:nvSpPr>
        <p:spPr>
          <a:xfrm>
            <a:off x="4393493" y="612761"/>
            <a:ext cx="10202973" cy="1469248"/>
          </a:xfrm>
          <a:prstGeom prst="rect">
            <a:avLst/>
          </a:prstGeom>
        </p:spPr>
        <p:txBody>
          <a:bodyPr wrap="square" lIns="0" tIns="0" rIns="0" bIns="0" rtlCol="0" anchor="t">
            <a:spAutoFit/>
          </a:bodyPr>
          <a:lstStyle/>
          <a:p>
            <a:pPr algn="ctr">
              <a:lnSpc>
                <a:spcPts val="12599"/>
              </a:lnSpc>
            </a:pPr>
            <a:r>
              <a:rPr lang="en-US" sz="9000" b="1">
                <a:solidFill>
                  <a:srgbClr val="474646"/>
                </a:solidFill>
                <a:latin typeface="Proxima Nova Bold"/>
                <a:ea typeface="Proxima Nova Bold"/>
                <a:cs typeface="Proxima Nova Bold"/>
                <a:sym typeface="Proxima Nova Bold"/>
              </a:rPr>
              <a:t>DATA CLEANING</a:t>
            </a:r>
            <a:endParaRPr lang="en-US" sz="9000" b="1">
              <a:solidFill>
                <a:srgbClr val="474646"/>
              </a:solidFill>
              <a:latin typeface="Proxima Nova Bold"/>
              <a:ea typeface="Proxima Nova Bold"/>
              <a:cs typeface="Proxima Nova Bold"/>
            </a:endParaRPr>
          </a:p>
        </p:txBody>
      </p:sp>
      <p:sp>
        <p:nvSpPr>
          <p:cNvPr id="15" name="TextBox 15">
            <a:extLst>
              <a:ext uri="{FF2B5EF4-FFF2-40B4-BE49-F238E27FC236}">
                <a16:creationId xmlns:a16="http://schemas.microsoft.com/office/drawing/2014/main" id="{85851172-72C3-E40F-C694-22074DBBDFC9}"/>
              </a:ext>
            </a:extLst>
          </p:cNvPr>
          <p:cNvSpPr txBox="1"/>
          <p:nvPr/>
        </p:nvSpPr>
        <p:spPr>
          <a:xfrm>
            <a:off x="1707924" y="2109619"/>
            <a:ext cx="15595946" cy="979114"/>
          </a:xfrm>
          <a:prstGeom prst="rect">
            <a:avLst/>
          </a:prstGeom>
        </p:spPr>
        <p:txBody>
          <a:bodyPr wrap="square" lIns="0" tIns="0" rIns="0" bIns="0" rtlCol="0" anchor="t">
            <a:spAutoFit/>
          </a:bodyPr>
          <a:lstStyle/>
          <a:p>
            <a:pPr algn="ctr">
              <a:lnSpc>
                <a:spcPts val="3919"/>
              </a:lnSpc>
            </a:pPr>
            <a:r>
              <a:rPr lang="en-US" sz="2700">
                <a:solidFill>
                  <a:srgbClr val="474646"/>
                </a:solidFill>
                <a:latin typeface="Nunito"/>
                <a:ea typeface="+mn-lt"/>
                <a:cs typeface="+mn-lt"/>
              </a:rPr>
              <a:t>After removing 2 duplicate records, the dataset was reduced from 301 to 299 unique records across 9 columns.</a:t>
            </a:r>
            <a:endParaRPr lang="en-US">
              <a:solidFill>
                <a:srgbClr val="474646"/>
              </a:solidFill>
              <a:latin typeface="Nunito"/>
            </a:endParaRPr>
          </a:p>
        </p:txBody>
      </p:sp>
      <p:pic>
        <p:nvPicPr>
          <p:cNvPr id="23" name="Picture 22">
            <a:extLst>
              <a:ext uri="{FF2B5EF4-FFF2-40B4-BE49-F238E27FC236}">
                <a16:creationId xmlns:a16="http://schemas.microsoft.com/office/drawing/2014/main" id="{1C404819-1D53-DCAD-29C1-3A249A87219C}"/>
              </a:ext>
            </a:extLst>
          </p:cNvPr>
          <p:cNvPicPr>
            <a:picLocks noChangeAspect="1"/>
          </p:cNvPicPr>
          <p:nvPr/>
        </p:nvPicPr>
        <p:blipFill>
          <a:blip r:embed="rId3"/>
          <a:stretch>
            <a:fillRect/>
          </a:stretch>
        </p:blipFill>
        <p:spPr>
          <a:xfrm>
            <a:off x="3780440" y="3334749"/>
            <a:ext cx="10720552" cy="5918939"/>
          </a:xfrm>
          <a:prstGeom prst="rect">
            <a:avLst/>
          </a:prstGeom>
        </p:spPr>
      </p:pic>
    </p:spTree>
    <p:extLst>
      <p:ext uri="{BB962C8B-B14F-4D97-AF65-F5344CB8AC3E}">
        <p14:creationId xmlns:p14="http://schemas.microsoft.com/office/powerpoint/2010/main" val="1431436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12319137" y="9258300"/>
            <a:ext cx="3911463" cy="391146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Freeform 10"/>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1040" y="-2445683"/>
            <a:ext cx="3911463" cy="3911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5"/>
          <p:cNvSpPr txBox="1"/>
          <p:nvPr/>
        </p:nvSpPr>
        <p:spPr>
          <a:xfrm>
            <a:off x="1589401" y="570273"/>
            <a:ext cx="15109198" cy="2616101"/>
          </a:xfrm>
          <a:prstGeom prst="rect">
            <a:avLst/>
          </a:prstGeom>
        </p:spPr>
        <p:txBody>
          <a:bodyPr wrap="square" lIns="0" tIns="0" rIns="0" bIns="0" rtlCol="0" anchor="t">
            <a:spAutoFit/>
          </a:bodyPr>
          <a:lstStyle/>
          <a:p>
            <a:pPr algn="ctr"/>
            <a:r>
              <a:rPr lang="en-US" sz="8500" b="1" dirty="0">
                <a:solidFill>
                  <a:srgbClr val="474646"/>
                </a:solidFill>
                <a:latin typeface="Proxima Nova Bold"/>
                <a:ea typeface="Proxima Nova Bold"/>
                <a:cs typeface="Proxima Nova Bold"/>
              </a:rPr>
              <a:t>EXPLORATORY </a:t>
            </a:r>
            <a:r>
              <a:rPr lang="en-US" sz="8500" b="1">
                <a:solidFill>
                  <a:srgbClr val="474646"/>
                </a:solidFill>
                <a:latin typeface="Proxima Nova Bold"/>
                <a:ea typeface="Proxima Nova Bold"/>
                <a:cs typeface="Proxima Nova Bold"/>
              </a:rPr>
              <a:t>DATA ANALYSIS</a:t>
            </a:r>
            <a:endParaRPr lang="en-US" sz="8500" b="1" dirty="0">
              <a:solidFill>
                <a:srgbClr val="474646"/>
              </a:solidFill>
              <a:latin typeface="Proxima Nova Bold"/>
              <a:ea typeface="Proxima Nova Bold"/>
              <a:cs typeface="Proxima Nova Bold"/>
            </a:endParaRPr>
          </a:p>
        </p:txBody>
      </p:sp>
      <p:sp>
        <p:nvSpPr>
          <p:cNvPr id="16" name="TextBox 16"/>
          <p:cNvSpPr txBox="1"/>
          <p:nvPr/>
        </p:nvSpPr>
        <p:spPr>
          <a:xfrm>
            <a:off x="2098461" y="3341594"/>
            <a:ext cx="14585414" cy="6200544"/>
          </a:xfrm>
          <a:prstGeom prst="rect">
            <a:avLst/>
          </a:prstGeom>
        </p:spPr>
        <p:txBody>
          <a:bodyPr wrap="square" lIns="0" tIns="0" rIns="0" bIns="0" rtlCol="0" anchor="t">
            <a:spAutoFit/>
          </a:bodyPr>
          <a:lstStyle/>
          <a:p>
            <a:pPr algn="just">
              <a:lnSpc>
                <a:spcPts val="3919"/>
              </a:lnSpc>
            </a:pPr>
            <a:r>
              <a:rPr lang="en-US" sz="2750">
                <a:solidFill>
                  <a:srgbClr val="474646"/>
                </a:solidFill>
                <a:latin typeface="Nunito"/>
                <a:ea typeface="Calibri"/>
                <a:cs typeface="Calibri"/>
              </a:rPr>
              <a:t>After cleaning the dataset, Exploratory Data Analysis (EDA) was performed to understand the main characteristics and patterns in the used-car market.</a:t>
            </a:r>
            <a:endParaRPr lang="en-US">
              <a:solidFill>
                <a:srgbClr val="474646"/>
              </a:solidFill>
              <a:ea typeface="Calibri"/>
              <a:cs typeface="Calibri"/>
            </a:endParaRPr>
          </a:p>
          <a:p>
            <a:pPr algn="just">
              <a:lnSpc>
                <a:spcPts val="3919"/>
              </a:lnSpc>
            </a:pPr>
            <a:endParaRPr lang="en-US" sz="2750" dirty="0">
              <a:solidFill>
                <a:srgbClr val="474646"/>
              </a:solidFill>
              <a:latin typeface="Nunito"/>
              <a:ea typeface="Calibri"/>
              <a:cs typeface="Calibri"/>
            </a:endParaRPr>
          </a:p>
          <a:p>
            <a:pPr algn="just"/>
            <a:r>
              <a:rPr lang="en-US" sz="2750" b="1">
                <a:solidFill>
                  <a:srgbClr val="474646"/>
                </a:solidFill>
                <a:latin typeface="Nunito"/>
                <a:ea typeface="Calibri"/>
                <a:cs typeface="Calibri"/>
              </a:rPr>
              <a:t>The analysis focused on:</a:t>
            </a:r>
            <a:endParaRPr lang="en-US">
              <a:solidFill>
                <a:srgbClr val="474646"/>
              </a:solidFill>
              <a:latin typeface="Nunito"/>
              <a:ea typeface="Calibri"/>
              <a:cs typeface="Calibri"/>
            </a:endParaRPr>
          </a:p>
          <a:p>
            <a:pPr algn="just">
              <a:buFont typeface="Arial"/>
              <a:buChar char="•"/>
            </a:pPr>
            <a:r>
              <a:rPr lang="en-US" sz="2750" b="1">
                <a:solidFill>
                  <a:srgbClr val="474646"/>
                </a:solidFill>
                <a:latin typeface="Nunito"/>
                <a:ea typeface="+mn-lt"/>
                <a:cs typeface="+mn-lt"/>
              </a:rPr>
              <a:t> Fuel Type</a:t>
            </a:r>
            <a:r>
              <a:rPr lang="en-US" sz="2750">
                <a:solidFill>
                  <a:srgbClr val="474646"/>
                </a:solidFill>
                <a:latin typeface="Nunito"/>
                <a:ea typeface="+mn-lt"/>
                <a:cs typeface="+mn-lt"/>
              </a:rPr>
              <a:t> – Distribution of Petrol, Diesel and CNG cars </a:t>
            </a:r>
            <a:endParaRPr lang="en-US" sz="2750" dirty="0">
              <a:solidFill>
                <a:srgbClr val="474646"/>
              </a:solidFill>
              <a:latin typeface="Nunito"/>
              <a:ea typeface="Calibri"/>
              <a:cs typeface="Calibri"/>
            </a:endParaRPr>
          </a:p>
          <a:p>
            <a:pPr algn="just">
              <a:buFont typeface="Arial"/>
              <a:buChar char="•"/>
            </a:pPr>
            <a:r>
              <a:rPr lang="en-US" sz="2750" b="1">
                <a:solidFill>
                  <a:srgbClr val="474646"/>
                </a:solidFill>
                <a:latin typeface="Nunito"/>
                <a:ea typeface="+mn-lt"/>
                <a:cs typeface="+mn-lt"/>
              </a:rPr>
              <a:t> Selling Price</a:t>
            </a:r>
            <a:r>
              <a:rPr lang="en-US" sz="2750">
                <a:solidFill>
                  <a:srgbClr val="474646"/>
                </a:solidFill>
                <a:latin typeface="Nunito"/>
                <a:ea typeface="+mn-lt"/>
                <a:cs typeface="+mn-lt"/>
              </a:rPr>
              <a:t> – Price distribution and average prices </a:t>
            </a:r>
            <a:endParaRPr lang="en-US">
              <a:solidFill>
                <a:srgbClr val="474646"/>
              </a:solidFill>
              <a:latin typeface="Nunito"/>
            </a:endParaRPr>
          </a:p>
          <a:p>
            <a:pPr algn="just">
              <a:buFont typeface="Arial"/>
              <a:buChar char="•"/>
            </a:pPr>
            <a:r>
              <a:rPr lang="en-US" sz="2750" b="1">
                <a:solidFill>
                  <a:srgbClr val="474646"/>
                </a:solidFill>
                <a:latin typeface="Nunito"/>
                <a:ea typeface="+mn-lt"/>
                <a:cs typeface="+mn-lt"/>
              </a:rPr>
              <a:t> Manufacturing Year &amp; Car Age</a:t>
            </a:r>
            <a:r>
              <a:rPr lang="en-US" sz="2750">
                <a:solidFill>
                  <a:srgbClr val="474646"/>
                </a:solidFill>
                <a:latin typeface="Nunito"/>
                <a:ea typeface="+mn-lt"/>
                <a:cs typeface="+mn-lt"/>
              </a:rPr>
              <a:t> – Effect of vehicle age on the market </a:t>
            </a:r>
            <a:endParaRPr lang="en-US">
              <a:solidFill>
                <a:srgbClr val="474646"/>
              </a:solidFill>
              <a:latin typeface="Nunito"/>
            </a:endParaRPr>
          </a:p>
          <a:p>
            <a:pPr algn="just">
              <a:buFont typeface="Arial"/>
              <a:buChar char="•"/>
            </a:pPr>
            <a:r>
              <a:rPr lang="en-US" sz="2750" b="1">
                <a:solidFill>
                  <a:srgbClr val="474646"/>
                </a:solidFill>
                <a:latin typeface="Nunito"/>
                <a:ea typeface="+mn-lt"/>
                <a:cs typeface="+mn-lt"/>
              </a:rPr>
              <a:t> Kilometers Driven</a:t>
            </a:r>
            <a:r>
              <a:rPr lang="en-US" sz="2750">
                <a:solidFill>
                  <a:srgbClr val="474646"/>
                </a:solidFill>
                <a:latin typeface="Nunito"/>
                <a:ea typeface="+mn-lt"/>
                <a:cs typeface="+mn-lt"/>
              </a:rPr>
              <a:t> – Relationship between vehicle usage and price </a:t>
            </a:r>
            <a:endParaRPr lang="en-US">
              <a:solidFill>
                <a:srgbClr val="474646"/>
              </a:solidFill>
              <a:latin typeface="Nunito"/>
            </a:endParaRPr>
          </a:p>
          <a:p>
            <a:pPr algn="just">
              <a:buFont typeface="Arial"/>
              <a:buChar char="•"/>
            </a:pPr>
            <a:r>
              <a:rPr lang="en-US" sz="2750" b="1">
                <a:solidFill>
                  <a:srgbClr val="474646"/>
                </a:solidFill>
                <a:latin typeface="Nunito"/>
                <a:ea typeface="+mn-lt"/>
                <a:cs typeface="+mn-lt"/>
              </a:rPr>
              <a:t> Transmission</a:t>
            </a:r>
            <a:r>
              <a:rPr lang="en-US" sz="2750">
                <a:solidFill>
                  <a:srgbClr val="474646"/>
                </a:solidFill>
                <a:latin typeface="Nunito"/>
                <a:ea typeface="+mn-lt"/>
                <a:cs typeface="+mn-lt"/>
              </a:rPr>
              <a:t> – Comparison of Manual and Automatic cars </a:t>
            </a:r>
            <a:endParaRPr lang="en-US">
              <a:solidFill>
                <a:srgbClr val="474646"/>
              </a:solidFill>
              <a:latin typeface="Nunito"/>
            </a:endParaRPr>
          </a:p>
          <a:p>
            <a:pPr algn="just">
              <a:buFont typeface="Arial"/>
              <a:buChar char="•"/>
            </a:pPr>
            <a:r>
              <a:rPr lang="en-US" sz="2750" b="1">
                <a:solidFill>
                  <a:srgbClr val="474646"/>
                </a:solidFill>
                <a:latin typeface="Nunito"/>
                <a:ea typeface="+mn-lt"/>
                <a:cs typeface="+mn-lt"/>
              </a:rPr>
              <a:t> Seller Type</a:t>
            </a:r>
            <a:r>
              <a:rPr lang="en-US" sz="2750">
                <a:solidFill>
                  <a:srgbClr val="474646"/>
                </a:solidFill>
                <a:latin typeface="Nunito"/>
                <a:ea typeface="+mn-lt"/>
                <a:cs typeface="+mn-lt"/>
              </a:rPr>
              <a:t> – Distribution of Dealer and Individual sellers </a:t>
            </a:r>
            <a:endParaRPr lang="en-US">
              <a:solidFill>
                <a:srgbClr val="474646"/>
              </a:solidFill>
              <a:latin typeface="Nunito"/>
            </a:endParaRPr>
          </a:p>
          <a:p>
            <a:pPr algn="just">
              <a:buFont typeface="Arial"/>
              <a:buChar char="•"/>
            </a:pPr>
            <a:r>
              <a:rPr lang="en-US" sz="2750" b="1">
                <a:solidFill>
                  <a:srgbClr val="474646"/>
                </a:solidFill>
                <a:latin typeface="Nunito"/>
                <a:ea typeface="+mn-lt"/>
                <a:cs typeface="+mn-lt"/>
              </a:rPr>
              <a:t> Car Models</a:t>
            </a:r>
            <a:r>
              <a:rPr lang="en-US" sz="2750">
                <a:solidFill>
                  <a:srgbClr val="474646"/>
                </a:solidFill>
                <a:latin typeface="Nunito"/>
                <a:ea typeface="+mn-lt"/>
                <a:cs typeface="+mn-lt"/>
              </a:rPr>
              <a:t> – Identification of high-value car models</a:t>
            </a:r>
            <a:endParaRPr lang="en-US">
              <a:solidFill>
                <a:srgbClr val="474646"/>
              </a:solidFill>
              <a:latin typeface="Nunito"/>
            </a:endParaRPr>
          </a:p>
          <a:p>
            <a:pPr marL="285750" indent="-285750" algn="just">
              <a:buFont typeface="Arial"/>
              <a:buChar char="•"/>
            </a:pPr>
            <a:endParaRPr lang="en-US" sz="2750" dirty="0">
              <a:solidFill>
                <a:srgbClr val="474646"/>
              </a:solidFill>
              <a:latin typeface="Nunito"/>
              <a:ea typeface="Calibri"/>
              <a:cs typeface="Calibri"/>
            </a:endParaRPr>
          </a:p>
          <a:p>
            <a:pPr algn="just"/>
            <a:r>
              <a:rPr lang="en-US" sz="2750" b="1">
                <a:solidFill>
                  <a:srgbClr val="474646"/>
                </a:solidFill>
                <a:latin typeface="Nunito"/>
                <a:ea typeface="Calibri"/>
                <a:cs typeface="Calibri"/>
              </a:rPr>
              <a:t>Cleaned Dataset → EDA → Visualization → Insights</a:t>
            </a:r>
            <a:endParaRPr lang="en-US">
              <a:solidFill>
                <a:srgbClr val="474646"/>
              </a:solidFill>
              <a:latin typeface="Nunito"/>
              <a:ea typeface="Calibri"/>
              <a:cs typeface="Calibri"/>
            </a:endParaRPr>
          </a:p>
          <a:p>
            <a:pPr>
              <a:lnSpc>
                <a:spcPts val="3919"/>
              </a:lnSpc>
            </a:pPr>
            <a:endParaRPr lang="en-US" sz="2750" dirty="0">
              <a:ea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2194560" y="-1542427"/>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839393" y="-1205548"/>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6029432" y="825246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16585767" y="8763075"/>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14047353" y="9121140"/>
            <a:ext cx="3911463" cy="391146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7035309" y="9121177"/>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Freeform 10"/>
          <p:cNvSpPr/>
          <p:nvPr/>
        </p:nvSpPr>
        <p:spPr>
          <a:xfrm>
            <a:off x="-1426427" y="-792582"/>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257199" y="-2749800"/>
            <a:ext cx="3911463" cy="3911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2183247" y="242902"/>
            <a:ext cx="14406138" cy="1408271"/>
          </a:xfrm>
          <a:prstGeom prst="rect">
            <a:avLst/>
          </a:prstGeom>
        </p:spPr>
        <p:txBody>
          <a:bodyPr wrap="square" lIns="0" tIns="0" rIns="0" bIns="0" rtlCol="0" anchor="t">
            <a:spAutoFit/>
          </a:bodyPr>
          <a:lstStyle/>
          <a:p>
            <a:pPr algn="ctr">
              <a:lnSpc>
                <a:spcPts val="12599"/>
              </a:lnSpc>
            </a:pPr>
            <a:r>
              <a:rPr lang="en-US" sz="6500" b="1">
                <a:solidFill>
                  <a:srgbClr val="474646"/>
                </a:solidFill>
                <a:latin typeface="Proxima Nova Bold"/>
              </a:rPr>
              <a:t>DATA VISUALIZATION &amp; ANALYSIS</a:t>
            </a:r>
          </a:p>
        </p:txBody>
      </p:sp>
      <p:pic>
        <p:nvPicPr>
          <p:cNvPr id="18" name="Picture 17">
            <a:extLst>
              <a:ext uri="{FF2B5EF4-FFF2-40B4-BE49-F238E27FC236}">
                <a16:creationId xmlns:a16="http://schemas.microsoft.com/office/drawing/2014/main" id="{7BA22D61-EAB8-E284-CD53-2619949F018E}"/>
              </a:ext>
            </a:extLst>
          </p:cNvPr>
          <p:cNvPicPr>
            <a:picLocks noChangeAspect="1"/>
          </p:cNvPicPr>
          <p:nvPr/>
        </p:nvPicPr>
        <p:blipFill>
          <a:blip r:embed="rId3"/>
          <a:stretch>
            <a:fillRect/>
          </a:stretch>
        </p:blipFill>
        <p:spPr>
          <a:xfrm>
            <a:off x="813816" y="7879134"/>
            <a:ext cx="7882128" cy="2026812"/>
          </a:xfrm>
          <a:prstGeom prst="rect">
            <a:avLst/>
          </a:prstGeom>
        </p:spPr>
      </p:pic>
      <p:sp>
        <p:nvSpPr>
          <p:cNvPr id="19" name="TextBox 18">
            <a:extLst>
              <a:ext uri="{FF2B5EF4-FFF2-40B4-BE49-F238E27FC236}">
                <a16:creationId xmlns:a16="http://schemas.microsoft.com/office/drawing/2014/main" id="{791FB657-08B7-04F4-AA99-ECA5AFEDBEAB}"/>
              </a:ext>
            </a:extLst>
          </p:cNvPr>
          <p:cNvSpPr txBox="1"/>
          <p:nvPr/>
        </p:nvSpPr>
        <p:spPr>
          <a:xfrm>
            <a:off x="722376" y="1924812"/>
            <a:ext cx="8074152" cy="16158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700" b="1">
                <a:solidFill>
                  <a:srgbClr val="474646"/>
                </a:solidFill>
                <a:latin typeface="Nunito"/>
              </a:rPr>
              <a:t>1. Cars by Fuel Type — Pie Chart:</a:t>
            </a:r>
            <a:endParaRPr lang="en-US" sz="2700" b="1">
              <a:solidFill>
                <a:srgbClr val="474646"/>
              </a:solidFill>
              <a:latin typeface="Nunito"/>
              <a:ea typeface="Calibri"/>
              <a:cs typeface="Calibri"/>
            </a:endParaRPr>
          </a:p>
          <a:p>
            <a:pPr algn="ctr"/>
            <a:r>
              <a:rPr lang="en-US" sz="2700" b="1">
                <a:solidFill>
                  <a:srgbClr val="474646"/>
                </a:solidFill>
                <a:latin typeface="Nunito"/>
              </a:rPr>
              <a:t>Petrol cars make up the largest share of the dataset, followed by Diesel and CNG cars.</a:t>
            </a:r>
            <a:endParaRPr lang="en-US" sz="2700" b="1">
              <a:solidFill>
                <a:srgbClr val="474646"/>
              </a:solidFill>
              <a:latin typeface="Nunito"/>
              <a:ea typeface="Calibri"/>
              <a:cs typeface="Calibri"/>
            </a:endParaRPr>
          </a:p>
          <a:p>
            <a:pPr algn="ctr"/>
            <a:endParaRPr lang="en-US"/>
          </a:p>
        </p:txBody>
      </p:sp>
      <p:pic>
        <p:nvPicPr>
          <p:cNvPr id="15" name="Picture 14">
            <a:extLst>
              <a:ext uri="{FF2B5EF4-FFF2-40B4-BE49-F238E27FC236}">
                <a16:creationId xmlns:a16="http://schemas.microsoft.com/office/drawing/2014/main" id="{9ABEA7E4-C5A9-661C-82EE-EC989DD428FE}"/>
              </a:ext>
            </a:extLst>
          </p:cNvPr>
          <p:cNvPicPr>
            <a:picLocks noChangeAspect="1"/>
          </p:cNvPicPr>
          <p:nvPr/>
        </p:nvPicPr>
        <p:blipFill>
          <a:blip r:embed="rId4"/>
          <a:stretch>
            <a:fillRect/>
          </a:stretch>
        </p:blipFill>
        <p:spPr>
          <a:xfrm>
            <a:off x="2676144" y="3555111"/>
            <a:ext cx="4166616" cy="3972306"/>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16" name="TextBox 15">
            <a:extLst>
              <a:ext uri="{FF2B5EF4-FFF2-40B4-BE49-F238E27FC236}">
                <a16:creationId xmlns:a16="http://schemas.microsoft.com/office/drawing/2014/main" id="{E7EFEA8F-1D7F-A24E-D525-42963F8213A4}"/>
              </a:ext>
            </a:extLst>
          </p:cNvPr>
          <p:cNvSpPr txBox="1"/>
          <p:nvPr/>
        </p:nvSpPr>
        <p:spPr>
          <a:xfrm>
            <a:off x="9534196" y="1929699"/>
            <a:ext cx="8553266"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700" b="1">
                <a:solidFill>
                  <a:srgbClr val="474646"/>
                </a:solidFill>
                <a:latin typeface="Nunito"/>
              </a:rPr>
              <a:t>2. Average Selling Price by Fuel Type — Bar Chart</a:t>
            </a:r>
            <a:endParaRPr lang="en-US">
              <a:solidFill>
                <a:srgbClr val="474646"/>
              </a:solidFill>
              <a:ea typeface="Calibri"/>
              <a:cs typeface="Calibri"/>
            </a:endParaRPr>
          </a:p>
          <a:p>
            <a:pPr algn="ctr"/>
            <a:r>
              <a:rPr lang="en-US" sz="2700" b="1">
                <a:solidFill>
                  <a:srgbClr val="474646"/>
                </a:solidFill>
                <a:latin typeface="Nunito"/>
                <a:ea typeface="+mn-lt"/>
                <a:cs typeface="+mn-lt"/>
              </a:rPr>
              <a:t>Diesel cars have the highest average selling price, while CNG cars have the lowest.</a:t>
            </a:r>
            <a:endParaRPr lang="en-US" sz="2700" b="1">
              <a:solidFill>
                <a:srgbClr val="474646"/>
              </a:solidFill>
              <a:latin typeface="Nunito"/>
            </a:endParaRPr>
          </a:p>
          <a:p>
            <a:pPr algn="l"/>
            <a:endParaRPr lang="en-US" sz="2700" b="1" dirty="0">
              <a:latin typeface="Nunito"/>
              <a:ea typeface="Calibri"/>
              <a:cs typeface="Calibri"/>
            </a:endParaRPr>
          </a:p>
        </p:txBody>
      </p:sp>
      <p:pic>
        <p:nvPicPr>
          <p:cNvPr id="17" name="Picture 16">
            <a:extLst>
              <a:ext uri="{FF2B5EF4-FFF2-40B4-BE49-F238E27FC236}">
                <a16:creationId xmlns:a16="http://schemas.microsoft.com/office/drawing/2014/main" id="{07BECC5D-CAF5-2D21-562A-6FE9D79F2F45}"/>
              </a:ext>
            </a:extLst>
          </p:cNvPr>
          <p:cNvPicPr>
            <a:picLocks noChangeAspect="1"/>
          </p:cNvPicPr>
          <p:nvPr/>
        </p:nvPicPr>
        <p:blipFill>
          <a:blip r:embed="rId5"/>
          <a:stretch>
            <a:fillRect/>
          </a:stretch>
        </p:blipFill>
        <p:spPr>
          <a:xfrm>
            <a:off x="10780586" y="3525965"/>
            <a:ext cx="6264021" cy="4003167"/>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20" name="Picture 19">
            <a:extLst>
              <a:ext uri="{FF2B5EF4-FFF2-40B4-BE49-F238E27FC236}">
                <a16:creationId xmlns:a16="http://schemas.microsoft.com/office/drawing/2014/main" id="{F93970C9-FFB3-7B77-E8D8-DE01FC8B4855}"/>
              </a:ext>
            </a:extLst>
          </p:cNvPr>
          <p:cNvPicPr>
            <a:picLocks noChangeAspect="1"/>
          </p:cNvPicPr>
          <p:nvPr/>
        </p:nvPicPr>
        <p:blipFill>
          <a:blip r:embed="rId6"/>
          <a:srcRect r="19569" b="646"/>
          <a:stretch>
            <a:fillRect/>
          </a:stretch>
        </p:blipFill>
        <p:spPr>
          <a:xfrm>
            <a:off x="10607040" y="7878668"/>
            <a:ext cx="6610825" cy="202373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a:extLst>
            <a:ext uri="{FF2B5EF4-FFF2-40B4-BE49-F238E27FC236}">
              <a16:creationId xmlns:a16="http://schemas.microsoft.com/office/drawing/2014/main" id="{3B0AF1F9-3FCE-83E5-806F-E6F7DB56731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0EFF278-DEDA-5A67-66B7-925A3B2F19DD}"/>
              </a:ext>
            </a:extLst>
          </p:cNvPr>
          <p:cNvSpPr/>
          <p:nvPr/>
        </p:nvSpPr>
        <p:spPr>
          <a:xfrm>
            <a:off x="-2194560" y="-1542427"/>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980E3292-D21D-C476-BC05-86BF4BFC28B2}"/>
              </a:ext>
            </a:extLst>
          </p:cNvPr>
          <p:cNvSpPr/>
          <p:nvPr/>
        </p:nvSpPr>
        <p:spPr>
          <a:xfrm>
            <a:off x="-1839393" y="-1205548"/>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9AE982BF-E133-79F9-10EC-77848577710C}"/>
              </a:ext>
            </a:extLst>
          </p:cNvPr>
          <p:cNvSpPr/>
          <p:nvPr/>
        </p:nvSpPr>
        <p:spPr>
          <a:xfrm>
            <a:off x="16029432" y="825246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a:extLst>
              <a:ext uri="{FF2B5EF4-FFF2-40B4-BE49-F238E27FC236}">
                <a16:creationId xmlns:a16="http://schemas.microsoft.com/office/drawing/2014/main" id="{A511FA87-150A-3FAB-CE84-77271F3D8C27}"/>
              </a:ext>
            </a:extLst>
          </p:cNvPr>
          <p:cNvSpPr/>
          <p:nvPr/>
        </p:nvSpPr>
        <p:spPr>
          <a:xfrm>
            <a:off x="16585767" y="8763075"/>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a:extLst>
              <a:ext uri="{FF2B5EF4-FFF2-40B4-BE49-F238E27FC236}">
                <a16:creationId xmlns:a16="http://schemas.microsoft.com/office/drawing/2014/main" id="{66D47FCC-9AE5-8394-BF38-0DC9230E4EE8}"/>
              </a:ext>
            </a:extLst>
          </p:cNvPr>
          <p:cNvGrpSpPr/>
          <p:nvPr/>
        </p:nvGrpSpPr>
        <p:grpSpPr>
          <a:xfrm>
            <a:off x="14047353" y="9121140"/>
            <a:ext cx="3911463" cy="3911463"/>
            <a:chOff x="0" y="0"/>
            <a:chExt cx="812800" cy="812800"/>
          </a:xfrm>
        </p:grpSpPr>
        <p:sp>
          <p:nvSpPr>
            <p:cNvPr id="7" name="Freeform 7">
              <a:extLst>
                <a:ext uri="{FF2B5EF4-FFF2-40B4-BE49-F238E27FC236}">
                  <a16:creationId xmlns:a16="http://schemas.microsoft.com/office/drawing/2014/main" id="{30E52572-DCCC-CF59-1360-E937B707FE2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a:extLst>
                <a:ext uri="{FF2B5EF4-FFF2-40B4-BE49-F238E27FC236}">
                  <a16:creationId xmlns:a16="http://schemas.microsoft.com/office/drawing/2014/main" id="{178A041E-124E-5B7C-BC01-C41308AC800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8BDAD571-C559-7C4F-4BB4-B77306081DC4}"/>
              </a:ext>
            </a:extLst>
          </p:cNvPr>
          <p:cNvSpPr/>
          <p:nvPr/>
        </p:nvSpPr>
        <p:spPr>
          <a:xfrm>
            <a:off x="17035309" y="9121177"/>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Freeform 10">
            <a:extLst>
              <a:ext uri="{FF2B5EF4-FFF2-40B4-BE49-F238E27FC236}">
                <a16:creationId xmlns:a16="http://schemas.microsoft.com/office/drawing/2014/main" id="{62D17FA0-6E82-6EFC-3658-FD78AA100008}"/>
              </a:ext>
            </a:extLst>
          </p:cNvPr>
          <p:cNvSpPr/>
          <p:nvPr/>
        </p:nvSpPr>
        <p:spPr>
          <a:xfrm>
            <a:off x="-1426427" y="-792582"/>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a:extLst>
              <a:ext uri="{FF2B5EF4-FFF2-40B4-BE49-F238E27FC236}">
                <a16:creationId xmlns:a16="http://schemas.microsoft.com/office/drawing/2014/main" id="{828B8741-E15D-316E-65A0-DCD106F82B5A}"/>
              </a:ext>
            </a:extLst>
          </p:cNvPr>
          <p:cNvGrpSpPr/>
          <p:nvPr/>
        </p:nvGrpSpPr>
        <p:grpSpPr>
          <a:xfrm>
            <a:off x="-257199" y="-2749800"/>
            <a:ext cx="3911463" cy="3911463"/>
            <a:chOff x="0" y="0"/>
            <a:chExt cx="812800" cy="812800"/>
          </a:xfrm>
        </p:grpSpPr>
        <p:sp>
          <p:nvSpPr>
            <p:cNvPr id="12" name="Freeform 12">
              <a:extLst>
                <a:ext uri="{FF2B5EF4-FFF2-40B4-BE49-F238E27FC236}">
                  <a16:creationId xmlns:a16="http://schemas.microsoft.com/office/drawing/2014/main" id="{338A401F-C4A2-F22E-2325-467021702B4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a:extLst>
                <a:ext uri="{FF2B5EF4-FFF2-40B4-BE49-F238E27FC236}">
                  <a16:creationId xmlns:a16="http://schemas.microsoft.com/office/drawing/2014/main" id="{C88D16A1-346B-86AF-285A-8D6CACD7F77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8">
            <a:extLst>
              <a:ext uri="{FF2B5EF4-FFF2-40B4-BE49-F238E27FC236}">
                <a16:creationId xmlns:a16="http://schemas.microsoft.com/office/drawing/2014/main" id="{F09FD6D2-44F0-9D8C-3497-AE1899C2C5AF}"/>
              </a:ext>
            </a:extLst>
          </p:cNvPr>
          <p:cNvSpPr txBox="1"/>
          <p:nvPr/>
        </p:nvSpPr>
        <p:spPr>
          <a:xfrm>
            <a:off x="832104" y="1924812"/>
            <a:ext cx="8577072" cy="24468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700" b="1">
                <a:solidFill>
                  <a:srgbClr val="474646"/>
                </a:solidFill>
                <a:latin typeface="Nunito"/>
              </a:rPr>
              <a:t>3. Average Selling Price by Manufacturing Year — Line Chart</a:t>
            </a:r>
          </a:p>
          <a:p>
            <a:pPr algn="ctr"/>
            <a:r>
              <a:rPr lang="en-US" sz="2700" b="1" dirty="0">
                <a:solidFill>
                  <a:srgbClr val="474646"/>
                </a:solidFill>
                <a:latin typeface="Nunito"/>
                <a:ea typeface="+mn-lt"/>
                <a:cs typeface="+mn-lt"/>
              </a:rPr>
              <a:t>The average selling price generally increases for newer cars, showing that vehicle age has an effect on resale value.</a:t>
            </a:r>
            <a:endParaRPr lang="en-US" sz="2700">
              <a:solidFill>
                <a:srgbClr val="474646"/>
              </a:solidFill>
              <a:latin typeface="Nunito"/>
            </a:endParaRPr>
          </a:p>
          <a:p>
            <a:pPr algn="ctr"/>
            <a:endParaRPr lang="en-US" dirty="0">
              <a:ea typeface="Calibri"/>
              <a:cs typeface="Calibri"/>
            </a:endParaRPr>
          </a:p>
        </p:txBody>
      </p:sp>
      <p:sp>
        <p:nvSpPr>
          <p:cNvPr id="16" name="TextBox 15">
            <a:extLst>
              <a:ext uri="{FF2B5EF4-FFF2-40B4-BE49-F238E27FC236}">
                <a16:creationId xmlns:a16="http://schemas.microsoft.com/office/drawing/2014/main" id="{E26AA604-82DC-1202-817C-5E4DEE169F88}"/>
              </a:ext>
            </a:extLst>
          </p:cNvPr>
          <p:cNvSpPr txBox="1"/>
          <p:nvPr/>
        </p:nvSpPr>
        <p:spPr>
          <a:xfrm>
            <a:off x="10284004" y="1938843"/>
            <a:ext cx="7090226" cy="21789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700" b="1">
                <a:solidFill>
                  <a:srgbClr val="474646"/>
                </a:solidFill>
                <a:latin typeface="Nunito"/>
              </a:rPr>
              <a:t>4. Car Age Distribution — Histogram</a:t>
            </a:r>
            <a:endParaRPr lang="en-US">
              <a:solidFill>
                <a:srgbClr val="474646"/>
              </a:solidFill>
              <a:ea typeface="Calibri"/>
              <a:cs typeface="Calibri"/>
            </a:endParaRPr>
          </a:p>
          <a:p>
            <a:pPr algn="ctr"/>
            <a:r>
              <a:rPr lang="en-US" sz="2700" b="1">
                <a:solidFill>
                  <a:srgbClr val="474646"/>
                </a:solidFill>
                <a:latin typeface="Nunito"/>
                <a:ea typeface="+mn-lt"/>
                <a:cs typeface="+mn-lt"/>
              </a:rPr>
              <a:t>The dataset contains mostly moderately aged cars, with fewer very new or very old vehicles.</a:t>
            </a:r>
            <a:endParaRPr lang="en-US" sz="2700" b="1">
              <a:solidFill>
                <a:srgbClr val="474646"/>
              </a:solidFill>
              <a:latin typeface="Nunito"/>
            </a:endParaRPr>
          </a:p>
          <a:p>
            <a:endParaRPr lang="en-US" sz="2700" b="1" dirty="0">
              <a:latin typeface="Nunito"/>
              <a:ea typeface="Calibri"/>
              <a:cs typeface="Calibri"/>
            </a:endParaRPr>
          </a:p>
        </p:txBody>
      </p:sp>
      <p:pic>
        <p:nvPicPr>
          <p:cNvPr id="22" name="Picture 21">
            <a:extLst>
              <a:ext uri="{FF2B5EF4-FFF2-40B4-BE49-F238E27FC236}">
                <a16:creationId xmlns:a16="http://schemas.microsoft.com/office/drawing/2014/main" id="{CB0A6E87-051A-2E7F-B6FF-69E6DCED2A0A}"/>
              </a:ext>
            </a:extLst>
          </p:cNvPr>
          <p:cNvPicPr>
            <a:picLocks noChangeAspect="1"/>
          </p:cNvPicPr>
          <p:nvPr/>
        </p:nvPicPr>
        <p:blipFill>
          <a:blip r:embed="rId3"/>
          <a:stretch>
            <a:fillRect/>
          </a:stretch>
        </p:blipFill>
        <p:spPr>
          <a:xfrm>
            <a:off x="10834688" y="4217289"/>
            <a:ext cx="5991225" cy="3635502"/>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23" name="Picture 22">
            <a:extLst>
              <a:ext uri="{FF2B5EF4-FFF2-40B4-BE49-F238E27FC236}">
                <a16:creationId xmlns:a16="http://schemas.microsoft.com/office/drawing/2014/main" id="{62AEBB16-0B13-B4D4-BA37-77A8CF62C7D0}"/>
              </a:ext>
            </a:extLst>
          </p:cNvPr>
          <p:cNvPicPr>
            <a:picLocks noChangeAspect="1"/>
          </p:cNvPicPr>
          <p:nvPr/>
        </p:nvPicPr>
        <p:blipFill>
          <a:blip r:embed="rId4"/>
          <a:stretch>
            <a:fillRect/>
          </a:stretch>
        </p:blipFill>
        <p:spPr>
          <a:xfrm>
            <a:off x="2429828" y="4352925"/>
            <a:ext cx="5381625" cy="3499866"/>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24" name="Picture 23">
            <a:extLst>
              <a:ext uri="{FF2B5EF4-FFF2-40B4-BE49-F238E27FC236}">
                <a16:creationId xmlns:a16="http://schemas.microsoft.com/office/drawing/2014/main" id="{8C41CC5A-F755-244C-1799-BF1F7376BDC6}"/>
              </a:ext>
            </a:extLst>
          </p:cNvPr>
          <p:cNvPicPr>
            <a:picLocks noChangeAspect="1"/>
          </p:cNvPicPr>
          <p:nvPr/>
        </p:nvPicPr>
        <p:blipFill>
          <a:blip r:embed="rId5"/>
          <a:stretch>
            <a:fillRect/>
          </a:stretch>
        </p:blipFill>
        <p:spPr>
          <a:xfrm>
            <a:off x="996696" y="8125681"/>
            <a:ext cx="8247888" cy="2000061"/>
          </a:xfrm>
          <a:prstGeom prst="rect">
            <a:avLst/>
          </a:prstGeom>
        </p:spPr>
      </p:pic>
      <p:pic>
        <p:nvPicPr>
          <p:cNvPr id="25" name="Picture 24">
            <a:extLst>
              <a:ext uri="{FF2B5EF4-FFF2-40B4-BE49-F238E27FC236}">
                <a16:creationId xmlns:a16="http://schemas.microsoft.com/office/drawing/2014/main" id="{3A0E2E53-2E92-2A4E-E02A-0C4ACC73BD81}"/>
              </a:ext>
            </a:extLst>
          </p:cNvPr>
          <p:cNvPicPr>
            <a:picLocks noChangeAspect="1"/>
          </p:cNvPicPr>
          <p:nvPr/>
        </p:nvPicPr>
        <p:blipFill>
          <a:blip r:embed="rId6"/>
          <a:stretch>
            <a:fillRect/>
          </a:stretch>
        </p:blipFill>
        <p:spPr>
          <a:xfrm>
            <a:off x="9930384" y="8128703"/>
            <a:ext cx="7799832" cy="1975730"/>
          </a:xfrm>
          <a:prstGeom prst="rect">
            <a:avLst/>
          </a:prstGeom>
        </p:spPr>
      </p:pic>
      <p:sp>
        <p:nvSpPr>
          <p:cNvPr id="18" name="TextBox 14">
            <a:extLst>
              <a:ext uri="{FF2B5EF4-FFF2-40B4-BE49-F238E27FC236}">
                <a16:creationId xmlns:a16="http://schemas.microsoft.com/office/drawing/2014/main" id="{E4D2C742-49BA-E81A-EC0D-22EE05829B66}"/>
              </a:ext>
            </a:extLst>
          </p:cNvPr>
          <p:cNvSpPr txBox="1"/>
          <p:nvPr/>
        </p:nvSpPr>
        <p:spPr>
          <a:xfrm>
            <a:off x="2183247" y="242902"/>
            <a:ext cx="14406138" cy="1408271"/>
          </a:xfrm>
          <a:prstGeom prst="rect">
            <a:avLst/>
          </a:prstGeom>
        </p:spPr>
        <p:txBody>
          <a:bodyPr wrap="square" lIns="0" tIns="0" rIns="0" bIns="0" rtlCol="0" anchor="t">
            <a:spAutoFit/>
          </a:bodyPr>
          <a:lstStyle/>
          <a:p>
            <a:pPr algn="ctr">
              <a:lnSpc>
                <a:spcPts val="12599"/>
              </a:lnSpc>
            </a:pPr>
            <a:r>
              <a:rPr lang="en-US" sz="6500" b="1">
                <a:solidFill>
                  <a:srgbClr val="474646"/>
                </a:solidFill>
                <a:latin typeface="Proxima Nova Bold"/>
              </a:rPr>
              <a:t>DATA VISUALIZATION &amp; ANALYSIS</a:t>
            </a:r>
          </a:p>
        </p:txBody>
      </p:sp>
    </p:spTree>
    <p:extLst>
      <p:ext uri="{BB962C8B-B14F-4D97-AF65-F5344CB8AC3E}">
        <p14:creationId xmlns:p14="http://schemas.microsoft.com/office/powerpoint/2010/main" val="24530519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a:extLst>
            <a:ext uri="{FF2B5EF4-FFF2-40B4-BE49-F238E27FC236}">
              <a16:creationId xmlns:a16="http://schemas.microsoft.com/office/drawing/2014/main" id="{51B1C861-03E4-33F7-4628-2363F5F773B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2A8ED4D-338E-FFD0-B666-A535781DD9C7}"/>
              </a:ext>
            </a:extLst>
          </p:cNvPr>
          <p:cNvSpPr/>
          <p:nvPr/>
        </p:nvSpPr>
        <p:spPr>
          <a:xfrm>
            <a:off x="-2194560" y="-1542427"/>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520BA33A-52BD-07E2-4D49-939646AC7D02}"/>
              </a:ext>
            </a:extLst>
          </p:cNvPr>
          <p:cNvSpPr/>
          <p:nvPr/>
        </p:nvSpPr>
        <p:spPr>
          <a:xfrm>
            <a:off x="-1839393" y="-1205548"/>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104DF1CF-B2EB-105A-B4BF-7A350D70442C}"/>
              </a:ext>
            </a:extLst>
          </p:cNvPr>
          <p:cNvSpPr/>
          <p:nvPr/>
        </p:nvSpPr>
        <p:spPr>
          <a:xfrm>
            <a:off x="16029432" y="825246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a:extLst>
              <a:ext uri="{FF2B5EF4-FFF2-40B4-BE49-F238E27FC236}">
                <a16:creationId xmlns:a16="http://schemas.microsoft.com/office/drawing/2014/main" id="{95E9B7E6-4AA8-D003-1FF8-6D56CD68271E}"/>
              </a:ext>
            </a:extLst>
          </p:cNvPr>
          <p:cNvSpPr/>
          <p:nvPr/>
        </p:nvSpPr>
        <p:spPr>
          <a:xfrm>
            <a:off x="16585767" y="8763075"/>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a:extLst>
              <a:ext uri="{FF2B5EF4-FFF2-40B4-BE49-F238E27FC236}">
                <a16:creationId xmlns:a16="http://schemas.microsoft.com/office/drawing/2014/main" id="{306981F9-26EE-731B-7785-0ABAAF154D36}"/>
              </a:ext>
            </a:extLst>
          </p:cNvPr>
          <p:cNvGrpSpPr/>
          <p:nvPr/>
        </p:nvGrpSpPr>
        <p:grpSpPr>
          <a:xfrm>
            <a:off x="14047353" y="9121140"/>
            <a:ext cx="3911463" cy="3911463"/>
            <a:chOff x="0" y="0"/>
            <a:chExt cx="812800" cy="812800"/>
          </a:xfrm>
        </p:grpSpPr>
        <p:sp>
          <p:nvSpPr>
            <p:cNvPr id="7" name="Freeform 7">
              <a:extLst>
                <a:ext uri="{FF2B5EF4-FFF2-40B4-BE49-F238E27FC236}">
                  <a16:creationId xmlns:a16="http://schemas.microsoft.com/office/drawing/2014/main" id="{96476981-4A1A-B553-86B2-6B34C223298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a:extLst>
                <a:ext uri="{FF2B5EF4-FFF2-40B4-BE49-F238E27FC236}">
                  <a16:creationId xmlns:a16="http://schemas.microsoft.com/office/drawing/2014/main" id="{B394A3FF-5825-06CF-497B-953D4FBC9B8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3FE9C3A5-B16F-99BF-2299-D3445E4D2D4A}"/>
              </a:ext>
            </a:extLst>
          </p:cNvPr>
          <p:cNvSpPr/>
          <p:nvPr/>
        </p:nvSpPr>
        <p:spPr>
          <a:xfrm>
            <a:off x="17035309" y="9121177"/>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Freeform 10">
            <a:extLst>
              <a:ext uri="{FF2B5EF4-FFF2-40B4-BE49-F238E27FC236}">
                <a16:creationId xmlns:a16="http://schemas.microsoft.com/office/drawing/2014/main" id="{74F5B079-5466-9569-5BF1-C08AA9D07E5B}"/>
              </a:ext>
            </a:extLst>
          </p:cNvPr>
          <p:cNvSpPr/>
          <p:nvPr/>
        </p:nvSpPr>
        <p:spPr>
          <a:xfrm>
            <a:off x="-1426427" y="-792582"/>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a:extLst>
              <a:ext uri="{FF2B5EF4-FFF2-40B4-BE49-F238E27FC236}">
                <a16:creationId xmlns:a16="http://schemas.microsoft.com/office/drawing/2014/main" id="{561F7AF0-B8A2-F52F-EF3A-64EAE3695AE9}"/>
              </a:ext>
            </a:extLst>
          </p:cNvPr>
          <p:cNvGrpSpPr/>
          <p:nvPr/>
        </p:nvGrpSpPr>
        <p:grpSpPr>
          <a:xfrm>
            <a:off x="-257199" y="-2749800"/>
            <a:ext cx="3911463" cy="3911463"/>
            <a:chOff x="0" y="0"/>
            <a:chExt cx="812800" cy="812800"/>
          </a:xfrm>
        </p:grpSpPr>
        <p:sp>
          <p:nvSpPr>
            <p:cNvPr id="12" name="Freeform 12">
              <a:extLst>
                <a:ext uri="{FF2B5EF4-FFF2-40B4-BE49-F238E27FC236}">
                  <a16:creationId xmlns:a16="http://schemas.microsoft.com/office/drawing/2014/main" id="{DE7AD58F-3B24-46D7-3EB9-64D9C37EE00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a:extLst>
                <a:ext uri="{FF2B5EF4-FFF2-40B4-BE49-F238E27FC236}">
                  <a16:creationId xmlns:a16="http://schemas.microsoft.com/office/drawing/2014/main" id="{9ED0EEC9-661D-7D8E-912C-FF2A625706A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8">
            <a:extLst>
              <a:ext uri="{FF2B5EF4-FFF2-40B4-BE49-F238E27FC236}">
                <a16:creationId xmlns:a16="http://schemas.microsoft.com/office/drawing/2014/main" id="{08689F74-B6A9-C868-5758-739134A6715F}"/>
              </a:ext>
            </a:extLst>
          </p:cNvPr>
          <p:cNvSpPr txBox="1"/>
          <p:nvPr/>
        </p:nvSpPr>
        <p:spPr>
          <a:xfrm>
            <a:off x="1307592" y="1778508"/>
            <a:ext cx="8202168" cy="24468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700" b="1">
                <a:solidFill>
                  <a:srgbClr val="474646"/>
                </a:solidFill>
                <a:latin typeface="Nunito"/>
              </a:rPr>
              <a:t>5. Average Selling Price by Kms Driven Range — Bar Chart</a:t>
            </a:r>
          </a:p>
          <a:p>
            <a:pPr algn="ctr"/>
            <a:r>
              <a:rPr lang="en-US" sz="2700" b="1">
                <a:solidFill>
                  <a:srgbClr val="474646"/>
                </a:solidFill>
                <a:latin typeface="Nunito"/>
                <a:ea typeface="+mn-lt"/>
                <a:cs typeface="+mn-lt"/>
              </a:rPr>
              <a:t>Cars with lower to moderate kilometers driven generally have higher selling prices than highly driven cars.</a:t>
            </a:r>
          </a:p>
          <a:p>
            <a:pPr algn="ctr"/>
            <a:endParaRPr lang="en-US" dirty="0">
              <a:ea typeface="Calibri"/>
              <a:cs typeface="Calibri"/>
            </a:endParaRPr>
          </a:p>
        </p:txBody>
      </p:sp>
      <p:sp>
        <p:nvSpPr>
          <p:cNvPr id="16" name="TextBox 15">
            <a:extLst>
              <a:ext uri="{FF2B5EF4-FFF2-40B4-BE49-F238E27FC236}">
                <a16:creationId xmlns:a16="http://schemas.microsoft.com/office/drawing/2014/main" id="{CDB1D6E8-C11C-FB69-4D68-271B692AF5EA}"/>
              </a:ext>
            </a:extLst>
          </p:cNvPr>
          <p:cNvSpPr txBox="1"/>
          <p:nvPr/>
        </p:nvSpPr>
        <p:spPr>
          <a:xfrm>
            <a:off x="10293148" y="1792539"/>
            <a:ext cx="7090226"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700" b="1">
                <a:solidFill>
                  <a:srgbClr val="474646"/>
                </a:solidFill>
                <a:latin typeface="Nunito"/>
              </a:rPr>
              <a:t>6. Selling Price Distribution — Box Plot</a:t>
            </a:r>
            <a:endParaRPr lang="en-US" sz="2700" b="1">
              <a:solidFill>
                <a:srgbClr val="474646"/>
              </a:solidFill>
              <a:latin typeface="Nunito"/>
              <a:ea typeface="+mn-lt"/>
              <a:cs typeface="+mn-lt"/>
            </a:endParaRPr>
          </a:p>
          <a:p>
            <a:pPr algn="ctr"/>
            <a:r>
              <a:rPr lang="en-US" sz="2700" b="1">
                <a:solidFill>
                  <a:srgbClr val="474646"/>
                </a:solidFill>
                <a:latin typeface="Nunito"/>
                <a:ea typeface="+mn-lt"/>
                <a:cs typeface="+mn-lt"/>
              </a:rPr>
              <a:t>Most cars have relatively lower selling prices, while a small number of high-priced cars appear as outliers.</a:t>
            </a:r>
            <a:endParaRPr lang="en-US" sz="2700" b="1">
              <a:solidFill>
                <a:srgbClr val="474646"/>
              </a:solidFill>
              <a:latin typeface="Nunito"/>
            </a:endParaRPr>
          </a:p>
          <a:p>
            <a:pPr algn="ctr"/>
            <a:endParaRPr lang="en-US" sz="2700" b="1" dirty="0">
              <a:latin typeface="Nunito"/>
              <a:ea typeface="Calibri"/>
              <a:cs typeface="Calibri"/>
            </a:endParaRPr>
          </a:p>
          <a:p>
            <a:endParaRPr lang="en-US" sz="2700" b="1" dirty="0">
              <a:latin typeface="Nunito"/>
              <a:ea typeface="Calibri"/>
              <a:cs typeface="Calibri"/>
            </a:endParaRPr>
          </a:p>
        </p:txBody>
      </p:sp>
      <p:pic>
        <p:nvPicPr>
          <p:cNvPr id="17" name="Picture 16">
            <a:extLst>
              <a:ext uri="{FF2B5EF4-FFF2-40B4-BE49-F238E27FC236}">
                <a16:creationId xmlns:a16="http://schemas.microsoft.com/office/drawing/2014/main" id="{7A7F3CC2-005B-40B4-7AC6-6292699B29FD}"/>
              </a:ext>
            </a:extLst>
          </p:cNvPr>
          <p:cNvPicPr>
            <a:picLocks noChangeAspect="1"/>
          </p:cNvPicPr>
          <p:nvPr/>
        </p:nvPicPr>
        <p:blipFill>
          <a:blip r:embed="rId3"/>
          <a:stretch>
            <a:fillRect/>
          </a:stretch>
        </p:blipFill>
        <p:spPr>
          <a:xfrm>
            <a:off x="2338197" y="4228528"/>
            <a:ext cx="5811393" cy="3326130"/>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18" name="Picture 17">
            <a:extLst>
              <a:ext uri="{FF2B5EF4-FFF2-40B4-BE49-F238E27FC236}">
                <a16:creationId xmlns:a16="http://schemas.microsoft.com/office/drawing/2014/main" id="{59B31CAC-3DC5-EC30-3706-C64096401CBB}"/>
              </a:ext>
            </a:extLst>
          </p:cNvPr>
          <p:cNvPicPr>
            <a:picLocks noChangeAspect="1"/>
          </p:cNvPicPr>
          <p:nvPr/>
        </p:nvPicPr>
        <p:blipFill>
          <a:blip r:embed="rId4"/>
          <a:stretch>
            <a:fillRect/>
          </a:stretch>
        </p:blipFill>
        <p:spPr>
          <a:xfrm>
            <a:off x="11292650" y="4228148"/>
            <a:ext cx="5294757" cy="3330321"/>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20" name="Picture 19">
            <a:extLst>
              <a:ext uri="{FF2B5EF4-FFF2-40B4-BE49-F238E27FC236}">
                <a16:creationId xmlns:a16="http://schemas.microsoft.com/office/drawing/2014/main" id="{A86F1013-9E2B-5274-5FF3-9C6DC907AA32}"/>
              </a:ext>
            </a:extLst>
          </p:cNvPr>
          <p:cNvPicPr>
            <a:picLocks noChangeAspect="1"/>
          </p:cNvPicPr>
          <p:nvPr/>
        </p:nvPicPr>
        <p:blipFill>
          <a:blip r:embed="rId5"/>
          <a:stretch>
            <a:fillRect/>
          </a:stretch>
        </p:blipFill>
        <p:spPr>
          <a:xfrm>
            <a:off x="10064496" y="7996809"/>
            <a:ext cx="7549896" cy="1956054"/>
          </a:xfrm>
          <a:prstGeom prst="rect">
            <a:avLst/>
          </a:prstGeom>
        </p:spPr>
      </p:pic>
      <p:pic>
        <p:nvPicPr>
          <p:cNvPr id="21" name="Picture 20">
            <a:extLst>
              <a:ext uri="{FF2B5EF4-FFF2-40B4-BE49-F238E27FC236}">
                <a16:creationId xmlns:a16="http://schemas.microsoft.com/office/drawing/2014/main" id="{FABA6A91-6A12-3172-846E-B36E0A044CD8}"/>
              </a:ext>
            </a:extLst>
          </p:cNvPr>
          <p:cNvPicPr>
            <a:picLocks noChangeAspect="1"/>
          </p:cNvPicPr>
          <p:nvPr/>
        </p:nvPicPr>
        <p:blipFill>
          <a:blip r:embed="rId6"/>
          <a:stretch>
            <a:fillRect/>
          </a:stretch>
        </p:blipFill>
        <p:spPr>
          <a:xfrm>
            <a:off x="2115693" y="7834884"/>
            <a:ext cx="6238494" cy="2270760"/>
          </a:xfrm>
          <a:prstGeom prst="rect">
            <a:avLst/>
          </a:prstGeom>
        </p:spPr>
      </p:pic>
      <p:sp>
        <p:nvSpPr>
          <p:cNvPr id="22" name="TextBox 14">
            <a:extLst>
              <a:ext uri="{FF2B5EF4-FFF2-40B4-BE49-F238E27FC236}">
                <a16:creationId xmlns:a16="http://schemas.microsoft.com/office/drawing/2014/main" id="{1FE5518C-E143-9294-F308-C4004EEF2512}"/>
              </a:ext>
            </a:extLst>
          </p:cNvPr>
          <p:cNvSpPr txBox="1"/>
          <p:nvPr/>
        </p:nvSpPr>
        <p:spPr>
          <a:xfrm>
            <a:off x="2183247" y="242902"/>
            <a:ext cx="14406138" cy="1408271"/>
          </a:xfrm>
          <a:prstGeom prst="rect">
            <a:avLst/>
          </a:prstGeom>
        </p:spPr>
        <p:txBody>
          <a:bodyPr wrap="square" lIns="0" tIns="0" rIns="0" bIns="0" rtlCol="0" anchor="t">
            <a:spAutoFit/>
          </a:bodyPr>
          <a:lstStyle/>
          <a:p>
            <a:pPr algn="ctr">
              <a:lnSpc>
                <a:spcPts val="12599"/>
              </a:lnSpc>
            </a:pPr>
            <a:r>
              <a:rPr lang="en-US" sz="6500" b="1">
                <a:solidFill>
                  <a:srgbClr val="474646"/>
                </a:solidFill>
                <a:latin typeface="Proxima Nova Bold"/>
              </a:rPr>
              <a:t>DATA VISUALIZATION &amp; ANALYSIS</a:t>
            </a:r>
          </a:p>
        </p:txBody>
      </p:sp>
    </p:spTree>
    <p:extLst>
      <p:ext uri="{BB962C8B-B14F-4D97-AF65-F5344CB8AC3E}">
        <p14:creationId xmlns:p14="http://schemas.microsoft.com/office/powerpoint/2010/main" val="6446161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a:extLst>
            <a:ext uri="{FF2B5EF4-FFF2-40B4-BE49-F238E27FC236}">
              <a16:creationId xmlns:a16="http://schemas.microsoft.com/office/drawing/2014/main" id="{0D07818C-F28B-9613-3B53-BFA01562955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267935F-7AB3-EE40-F417-D47D522B7A35}"/>
              </a:ext>
            </a:extLst>
          </p:cNvPr>
          <p:cNvSpPr/>
          <p:nvPr/>
        </p:nvSpPr>
        <p:spPr>
          <a:xfrm>
            <a:off x="-2194560" y="-1542427"/>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282F53FD-4F9C-3C71-62B5-EA4DBA10A0B9}"/>
              </a:ext>
            </a:extLst>
          </p:cNvPr>
          <p:cNvSpPr/>
          <p:nvPr/>
        </p:nvSpPr>
        <p:spPr>
          <a:xfrm>
            <a:off x="-1839393" y="-1205548"/>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a:extLst>
              <a:ext uri="{FF2B5EF4-FFF2-40B4-BE49-F238E27FC236}">
                <a16:creationId xmlns:a16="http://schemas.microsoft.com/office/drawing/2014/main" id="{00989B8A-EB24-6736-D9BD-336EC737EBA4}"/>
              </a:ext>
            </a:extLst>
          </p:cNvPr>
          <p:cNvSpPr/>
          <p:nvPr/>
        </p:nvSpPr>
        <p:spPr>
          <a:xfrm>
            <a:off x="16029432" y="825246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a:extLst>
              <a:ext uri="{FF2B5EF4-FFF2-40B4-BE49-F238E27FC236}">
                <a16:creationId xmlns:a16="http://schemas.microsoft.com/office/drawing/2014/main" id="{0004956D-B4F8-D5E5-EDCD-2A6C930D74BE}"/>
              </a:ext>
            </a:extLst>
          </p:cNvPr>
          <p:cNvSpPr/>
          <p:nvPr/>
        </p:nvSpPr>
        <p:spPr>
          <a:xfrm>
            <a:off x="16585767" y="8763075"/>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a:extLst>
              <a:ext uri="{FF2B5EF4-FFF2-40B4-BE49-F238E27FC236}">
                <a16:creationId xmlns:a16="http://schemas.microsoft.com/office/drawing/2014/main" id="{C8410F2A-1648-CDEF-1C33-6E2F4C33DBA0}"/>
              </a:ext>
            </a:extLst>
          </p:cNvPr>
          <p:cNvGrpSpPr/>
          <p:nvPr/>
        </p:nvGrpSpPr>
        <p:grpSpPr>
          <a:xfrm>
            <a:off x="14047353" y="9121140"/>
            <a:ext cx="3911463" cy="3911463"/>
            <a:chOff x="0" y="0"/>
            <a:chExt cx="812800" cy="812800"/>
          </a:xfrm>
        </p:grpSpPr>
        <p:sp>
          <p:nvSpPr>
            <p:cNvPr id="7" name="Freeform 7">
              <a:extLst>
                <a:ext uri="{FF2B5EF4-FFF2-40B4-BE49-F238E27FC236}">
                  <a16:creationId xmlns:a16="http://schemas.microsoft.com/office/drawing/2014/main" id="{FBFFECC8-E2EE-4196-C41A-E929213B166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a:extLst>
                <a:ext uri="{FF2B5EF4-FFF2-40B4-BE49-F238E27FC236}">
                  <a16:creationId xmlns:a16="http://schemas.microsoft.com/office/drawing/2014/main" id="{38333409-B7FC-9B1D-8DF7-CE95806A931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D2E48E32-E2F9-43C5-BEDD-036BC35F95C6}"/>
              </a:ext>
            </a:extLst>
          </p:cNvPr>
          <p:cNvSpPr/>
          <p:nvPr/>
        </p:nvSpPr>
        <p:spPr>
          <a:xfrm>
            <a:off x="17035309" y="9121177"/>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Freeform 10">
            <a:extLst>
              <a:ext uri="{FF2B5EF4-FFF2-40B4-BE49-F238E27FC236}">
                <a16:creationId xmlns:a16="http://schemas.microsoft.com/office/drawing/2014/main" id="{2C08EE67-107A-EC25-C8C9-9933D9429DBD}"/>
              </a:ext>
            </a:extLst>
          </p:cNvPr>
          <p:cNvSpPr/>
          <p:nvPr/>
        </p:nvSpPr>
        <p:spPr>
          <a:xfrm>
            <a:off x="-1426427" y="-792582"/>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a:extLst>
              <a:ext uri="{FF2B5EF4-FFF2-40B4-BE49-F238E27FC236}">
                <a16:creationId xmlns:a16="http://schemas.microsoft.com/office/drawing/2014/main" id="{34AF3267-F5D1-352E-B78D-28FC7A24BDBE}"/>
              </a:ext>
            </a:extLst>
          </p:cNvPr>
          <p:cNvGrpSpPr/>
          <p:nvPr/>
        </p:nvGrpSpPr>
        <p:grpSpPr>
          <a:xfrm>
            <a:off x="-257199" y="-2749800"/>
            <a:ext cx="3911463" cy="3911463"/>
            <a:chOff x="0" y="0"/>
            <a:chExt cx="812800" cy="812800"/>
          </a:xfrm>
        </p:grpSpPr>
        <p:sp>
          <p:nvSpPr>
            <p:cNvPr id="12" name="Freeform 12">
              <a:extLst>
                <a:ext uri="{FF2B5EF4-FFF2-40B4-BE49-F238E27FC236}">
                  <a16:creationId xmlns:a16="http://schemas.microsoft.com/office/drawing/2014/main" id="{2DB59035-02EB-DAA9-96A0-6CBB131C057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a:extLst>
                <a:ext uri="{FF2B5EF4-FFF2-40B4-BE49-F238E27FC236}">
                  <a16:creationId xmlns:a16="http://schemas.microsoft.com/office/drawing/2014/main" id="{52EE0F31-E11C-0052-A07B-C31DA66984F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9" name="TextBox 18">
            <a:extLst>
              <a:ext uri="{FF2B5EF4-FFF2-40B4-BE49-F238E27FC236}">
                <a16:creationId xmlns:a16="http://schemas.microsoft.com/office/drawing/2014/main" id="{231C3C94-5C8A-3AFA-7E1C-3A48692999D0}"/>
              </a:ext>
            </a:extLst>
          </p:cNvPr>
          <p:cNvSpPr txBox="1"/>
          <p:nvPr/>
        </p:nvSpPr>
        <p:spPr>
          <a:xfrm>
            <a:off x="832104" y="1924812"/>
            <a:ext cx="8577072" cy="21698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700" b="1">
                <a:solidFill>
                  <a:srgbClr val="474646"/>
                </a:solidFill>
                <a:latin typeface="Nunito"/>
              </a:rPr>
              <a:t>7. Average Selling Price by Transmission — Bar Chart</a:t>
            </a:r>
          </a:p>
          <a:p>
            <a:pPr algn="ctr"/>
            <a:r>
              <a:rPr lang="en-US" sz="2700" b="1">
                <a:solidFill>
                  <a:srgbClr val="474646"/>
                </a:solidFill>
                <a:latin typeface="Nunito"/>
                <a:ea typeface="+mn-lt"/>
                <a:cs typeface="+mn-lt"/>
              </a:rPr>
              <a:t>Automatic cars have a higher average selling price than manual cars in the dataset.</a:t>
            </a:r>
            <a:endParaRPr lang="en-US" sz="2700" b="1" dirty="0">
              <a:solidFill>
                <a:srgbClr val="474646"/>
              </a:solidFill>
              <a:latin typeface="Nunito"/>
              <a:ea typeface="+mn-lt"/>
              <a:cs typeface="+mn-lt"/>
            </a:endParaRPr>
          </a:p>
          <a:p>
            <a:pPr algn="ctr"/>
            <a:endParaRPr lang="en-US" sz="2700" b="1" dirty="0">
              <a:solidFill>
                <a:srgbClr val="474646"/>
              </a:solidFill>
              <a:latin typeface="Nunito"/>
              <a:ea typeface="Calibri"/>
              <a:cs typeface="Calibri"/>
            </a:endParaRPr>
          </a:p>
        </p:txBody>
      </p:sp>
      <p:sp>
        <p:nvSpPr>
          <p:cNvPr id="16" name="TextBox 15">
            <a:extLst>
              <a:ext uri="{FF2B5EF4-FFF2-40B4-BE49-F238E27FC236}">
                <a16:creationId xmlns:a16="http://schemas.microsoft.com/office/drawing/2014/main" id="{45B56E09-64B8-FE47-4AE8-1CA25D856EB8}"/>
              </a:ext>
            </a:extLst>
          </p:cNvPr>
          <p:cNvSpPr txBox="1"/>
          <p:nvPr/>
        </p:nvSpPr>
        <p:spPr>
          <a:xfrm>
            <a:off x="9744508" y="1938843"/>
            <a:ext cx="7629722"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700" b="1">
                <a:solidFill>
                  <a:srgbClr val="474646"/>
                </a:solidFill>
                <a:latin typeface="Nunito"/>
              </a:rPr>
              <a:t>8. Top 10 Most Expensive Car Models — Horizontal Bar Chart</a:t>
            </a:r>
            <a:endParaRPr lang="en-US">
              <a:solidFill>
                <a:srgbClr val="474646"/>
              </a:solidFill>
              <a:ea typeface="Calibri"/>
              <a:cs typeface="Calibri"/>
            </a:endParaRPr>
          </a:p>
          <a:p>
            <a:pPr algn="ctr"/>
            <a:r>
              <a:rPr lang="en-US" sz="2700" b="1">
                <a:solidFill>
                  <a:srgbClr val="474646"/>
                </a:solidFill>
                <a:latin typeface="Nunito"/>
                <a:ea typeface="+mn-lt"/>
                <a:cs typeface="+mn-lt"/>
              </a:rPr>
              <a:t>The</a:t>
            </a:r>
            <a:r>
              <a:rPr lang="en-US" sz="2700" b="1" dirty="0">
                <a:solidFill>
                  <a:srgbClr val="474646"/>
                </a:solidFill>
                <a:latin typeface="Nunito"/>
                <a:ea typeface="+mn-lt"/>
                <a:cs typeface="+mn-lt"/>
              </a:rPr>
              <a:t> car models with the highest average selling prices, with premium models occupying the top positions.</a:t>
            </a:r>
          </a:p>
          <a:p>
            <a:endParaRPr lang="en-US" sz="2700" b="1" dirty="0">
              <a:latin typeface="Nunito"/>
              <a:ea typeface="Calibri"/>
              <a:cs typeface="Calibri"/>
            </a:endParaRPr>
          </a:p>
        </p:txBody>
      </p:sp>
      <p:pic>
        <p:nvPicPr>
          <p:cNvPr id="15" name="Picture 14">
            <a:extLst>
              <a:ext uri="{FF2B5EF4-FFF2-40B4-BE49-F238E27FC236}">
                <a16:creationId xmlns:a16="http://schemas.microsoft.com/office/drawing/2014/main" id="{CFFAEB93-9D65-C2E9-F85F-546502590D4E}"/>
              </a:ext>
            </a:extLst>
          </p:cNvPr>
          <p:cNvPicPr>
            <a:picLocks noChangeAspect="1"/>
          </p:cNvPicPr>
          <p:nvPr/>
        </p:nvPicPr>
        <p:blipFill>
          <a:blip r:embed="rId3"/>
          <a:stretch>
            <a:fillRect/>
          </a:stretch>
        </p:blipFill>
        <p:spPr>
          <a:xfrm>
            <a:off x="11491532" y="4188333"/>
            <a:ext cx="4896993" cy="3309366"/>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17" name="Picture 16">
            <a:extLst>
              <a:ext uri="{FF2B5EF4-FFF2-40B4-BE49-F238E27FC236}">
                <a16:creationId xmlns:a16="http://schemas.microsoft.com/office/drawing/2014/main" id="{B2E58DB8-3DA2-6267-DF1E-03BEEBC34E88}"/>
              </a:ext>
            </a:extLst>
          </p:cNvPr>
          <p:cNvPicPr>
            <a:picLocks noChangeAspect="1"/>
          </p:cNvPicPr>
          <p:nvPr/>
        </p:nvPicPr>
        <p:blipFill>
          <a:blip r:embed="rId4"/>
          <a:stretch>
            <a:fillRect/>
          </a:stretch>
        </p:blipFill>
        <p:spPr>
          <a:xfrm>
            <a:off x="2358009" y="4184333"/>
            <a:ext cx="5150358" cy="3545967"/>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18" name="Picture 17">
            <a:extLst>
              <a:ext uri="{FF2B5EF4-FFF2-40B4-BE49-F238E27FC236}">
                <a16:creationId xmlns:a16="http://schemas.microsoft.com/office/drawing/2014/main" id="{9CD02C6A-53AB-A209-A83B-1BE387E04408}"/>
              </a:ext>
            </a:extLst>
          </p:cNvPr>
          <p:cNvPicPr>
            <a:picLocks noChangeAspect="1"/>
          </p:cNvPicPr>
          <p:nvPr/>
        </p:nvPicPr>
        <p:blipFill>
          <a:blip r:embed="rId5"/>
          <a:stretch>
            <a:fillRect/>
          </a:stretch>
        </p:blipFill>
        <p:spPr>
          <a:xfrm>
            <a:off x="1491234" y="8050911"/>
            <a:ext cx="6883908" cy="2131314"/>
          </a:xfrm>
          <a:prstGeom prst="rect">
            <a:avLst/>
          </a:prstGeom>
        </p:spPr>
      </p:pic>
      <p:pic>
        <p:nvPicPr>
          <p:cNvPr id="20" name="Picture 19">
            <a:extLst>
              <a:ext uri="{FF2B5EF4-FFF2-40B4-BE49-F238E27FC236}">
                <a16:creationId xmlns:a16="http://schemas.microsoft.com/office/drawing/2014/main" id="{7FD07C81-1CB0-D602-C303-64702797FE91}"/>
              </a:ext>
            </a:extLst>
          </p:cNvPr>
          <p:cNvPicPr>
            <a:picLocks noChangeAspect="1"/>
          </p:cNvPicPr>
          <p:nvPr/>
        </p:nvPicPr>
        <p:blipFill>
          <a:blip r:embed="rId6"/>
          <a:stretch>
            <a:fillRect/>
          </a:stretch>
        </p:blipFill>
        <p:spPr>
          <a:xfrm>
            <a:off x="11852553" y="7690104"/>
            <a:ext cx="4394406" cy="2496312"/>
          </a:xfrm>
          <a:prstGeom prst="rect">
            <a:avLst/>
          </a:prstGeom>
        </p:spPr>
      </p:pic>
      <p:sp>
        <p:nvSpPr>
          <p:cNvPr id="22" name="TextBox 14">
            <a:extLst>
              <a:ext uri="{FF2B5EF4-FFF2-40B4-BE49-F238E27FC236}">
                <a16:creationId xmlns:a16="http://schemas.microsoft.com/office/drawing/2014/main" id="{478D1F45-8CA6-53AF-CA6C-060E2AE281C4}"/>
              </a:ext>
            </a:extLst>
          </p:cNvPr>
          <p:cNvSpPr txBox="1"/>
          <p:nvPr/>
        </p:nvSpPr>
        <p:spPr>
          <a:xfrm>
            <a:off x="2183247" y="242902"/>
            <a:ext cx="14406138" cy="1408271"/>
          </a:xfrm>
          <a:prstGeom prst="rect">
            <a:avLst/>
          </a:prstGeom>
        </p:spPr>
        <p:txBody>
          <a:bodyPr wrap="square" lIns="0" tIns="0" rIns="0" bIns="0" rtlCol="0" anchor="t">
            <a:spAutoFit/>
          </a:bodyPr>
          <a:lstStyle/>
          <a:p>
            <a:pPr algn="ctr">
              <a:lnSpc>
                <a:spcPts val="12599"/>
              </a:lnSpc>
            </a:pPr>
            <a:r>
              <a:rPr lang="en-US" sz="6500" b="1">
                <a:solidFill>
                  <a:srgbClr val="474646"/>
                </a:solidFill>
                <a:latin typeface="Proxima Nova Bold"/>
              </a:rPr>
              <a:t>DATA VISUALIZATION &amp; ANALYSIS</a:t>
            </a:r>
          </a:p>
        </p:txBody>
      </p:sp>
    </p:spTree>
    <p:extLst>
      <p:ext uri="{BB962C8B-B14F-4D97-AF65-F5344CB8AC3E}">
        <p14:creationId xmlns:p14="http://schemas.microsoft.com/office/powerpoint/2010/main" val="1978843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12319137" y="9258300"/>
            <a:ext cx="3911463" cy="391146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Freeform 10"/>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2129385" y="-2859528"/>
            <a:ext cx="3911463" cy="3911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1429523" y="800686"/>
            <a:ext cx="15986739" cy="1469248"/>
          </a:xfrm>
          <a:prstGeom prst="rect">
            <a:avLst/>
          </a:prstGeom>
        </p:spPr>
        <p:txBody>
          <a:bodyPr wrap="square" lIns="0" tIns="0" rIns="0" bIns="0" rtlCol="0" anchor="t">
            <a:spAutoFit/>
          </a:bodyPr>
          <a:lstStyle/>
          <a:p>
            <a:pPr algn="ctr">
              <a:lnSpc>
                <a:spcPts val="12599"/>
              </a:lnSpc>
            </a:pPr>
            <a:r>
              <a:rPr lang="en-US" sz="9000" b="1">
                <a:solidFill>
                  <a:srgbClr val="474646"/>
                </a:solidFill>
                <a:latin typeface="Proxima Nova Bold"/>
                <a:ea typeface="Proxima Nova Bold"/>
                <a:cs typeface="Proxima Nova Bold"/>
              </a:rPr>
              <a:t>RESULTS &amp; KEY INSIGHTS</a:t>
            </a:r>
          </a:p>
        </p:txBody>
      </p:sp>
      <p:sp>
        <p:nvSpPr>
          <p:cNvPr id="15" name="TextBox 15"/>
          <p:cNvSpPr txBox="1"/>
          <p:nvPr/>
        </p:nvSpPr>
        <p:spPr>
          <a:xfrm>
            <a:off x="1919614" y="2266884"/>
            <a:ext cx="14457916" cy="7959871"/>
          </a:xfrm>
          <a:prstGeom prst="rect">
            <a:avLst/>
          </a:prstGeom>
        </p:spPr>
        <p:txBody>
          <a:bodyPr wrap="square" lIns="0" tIns="0" rIns="0" bIns="0" rtlCol="0" anchor="t">
            <a:spAutoFit/>
          </a:bodyPr>
          <a:lstStyle/>
          <a:p>
            <a:pPr algn="just"/>
            <a:r>
              <a:rPr lang="en-US" sz="2600" b="1" dirty="0">
                <a:solidFill>
                  <a:srgbClr val="474646"/>
                </a:solidFill>
                <a:latin typeface="Nunito"/>
                <a:ea typeface="+mn-lt"/>
                <a:cs typeface="+mn-lt"/>
                <a:sym typeface="Nunito"/>
              </a:rPr>
              <a:t>The analysis of the cleaned </a:t>
            </a:r>
            <a:r>
              <a:rPr lang="en-US" sz="2600" b="1" dirty="0" err="1">
                <a:solidFill>
                  <a:srgbClr val="474646"/>
                </a:solidFill>
                <a:latin typeface="Nunito"/>
                <a:ea typeface="+mn-lt"/>
                <a:cs typeface="+mn-lt"/>
                <a:sym typeface="Nunito"/>
              </a:rPr>
              <a:t>CarDekho</a:t>
            </a:r>
            <a:r>
              <a:rPr lang="en-US" sz="2600" b="1" dirty="0">
                <a:solidFill>
                  <a:srgbClr val="474646"/>
                </a:solidFill>
                <a:latin typeface="Nunito"/>
                <a:ea typeface="+mn-lt"/>
                <a:cs typeface="+mn-lt"/>
                <a:sym typeface="Nunito"/>
              </a:rPr>
              <a:t> dataset revealed several patterns related to vehicle pricing, age, usage, and market characteristics.</a:t>
            </a:r>
            <a:endParaRPr lang="en-US" sz="2600" b="1">
              <a:solidFill>
                <a:srgbClr val="474646"/>
              </a:solidFill>
              <a:latin typeface="Nunito"/>
            </a:endParaRPr>
          </a:p>
          <a:p>
            <a:pPr algn="just"/>
            <a:endParaRPr lang="en-US" sz="2600" b="1" dirty="0">
              <a:solidFill>
                <a:srgbClr val="474646"/>
              </a:solidFill>
              <a:latin typeface="Nunito"/>
              <a:ea typeface="+mn-lt"/>
              <a:cs typeface="+mn-lt"/>
            </a:endParaRPr>
          </a:p>
          <a:p>
            <a:pPr algn="just"/>
            <a:r>
              <a:rPr lang="en-US" sz="2600" b="1">
                <a:solidFill>
                  <a:srgbClr val="474646"/>
                </a:solidFill>
                <a:latin typeface="Nunito"/>
                <a:ea typeface="+mn-lt"/>
                <a:cs typeface="+mn-lt"/>
                <a:sym typeface="Nunito"/>
              </a:rPr>
              <a:t>1.Pricing:</a:t>
            </a:r>
            <a:endParaRPr lang="en-US" sz="2600" b="1">
              <a:solidFill>
                <a:srgbClr val="474646"/>
              </a:solidFill>
              <a:latin typeface="Nunito"/>
            </a:endParaRPr>
          </a:p>
          <a:p>
            <a:pPr algn="just"/>
            <a:r>
              <a:rPr lang="en-US" sz="2600" b="1">
                <a:solidFill>
                  <a:srgbClr val="474646"/>
                </a:solidFill>
                <a:latin typeface="Nunito"/>
                <a:ea typeface="+mn-lt"/>
                <a:cs typeface="+mn-lt"/>
                <a:sym typeface="Nunito"/>
              </a:rPr>
              <a:t>Selling prices vary considerably across different car categories and characteristics.</a:t>
            </a:r>
            <a:endParaRPr lang="en-US" sz="2600" b="1" dirty="0">
              <a:solidFill>
                <a:srgbClr val="474646"/>
              </a:solidFill>
              <a:latin typeface="Nunito"/>
              <a:ea typeface="+mn-lt"/>
              <a:cs typeface="+mn-lt"/>
            </a:endParaRPr>
          </a:p>
          <a:p>
            <a:pPr algn="just"/>
            <a:endParaRPr lang="en-US" sz="2600" b="1" dirty="0">
              <a:solidFill>
                <a:srgbClr val="474646"/>
              </a:solidFill>
              <a:latin typeface="Nunito"/>
              <a:ea typeface="+mn-lt"/>
              <a:cs typeface="+mn-lt"/>
            </a:endParaRPr>
          </a:p>
          <a:p>
            <a:pPr algn="just"/>
            <a:r>
              <a:rPr lang="en-US" sz="2600" b="1">
                <a:solidFill>
                  <a:srgbClr val="474646"/>
                </a:solidFill>
                <a:latin typeface="Nunito"/>
                <a:ea typeface="+mn-lt"/>
                <a:cs typeface="+mn-lt"/>
                <a:sym typeface="Nunito"/>
              </a:rPr>
              <a:t>2.Fuel Type:</a:t>
            </a:r>
            <a:endParaRPr lang="en-US" sz="2600" b="1">
              <a:solidFill>
                <a:srgbClr val="474646"/>
              </a:solidFill>
              <a:latin typeface="Nunito"/>
            </a:endParaRPr>
          </a:p>
          <a:p>
            <a:pPr algn="just"/>
            <a:r>
              <a:rPr lang="en-US" sz="2600" b="1">
                <a:solidFill>
                  <a:srgbClr val="474646"/>
                </a:solidFill>
                <a:latin typeface="Nunito"/>
                <a:ea typeface="+mn-lt"/>
                <a:cs typeface="+mn-lt"/>
                <a:sym typeface="Nunito"/>
              </a:rPr>
              <a:t>Petrol cars form the largest portion of the dataset, while Diesel cars show a higher average selling price.</a:t>
            </a:r>
            <a:endParaRPr lang="en-US" sz="2600" b="1">
              <a:solidFill>
                <a:srgbClr val="474646"/>
              </a:solidFill>
              <a:latin typeface="Nunito"/>
            </a:endParaRPr>
          </a:p>
          <a:p>
            <a:pPr algn="just"/>
            <a:endParaRPr lang="en-US" sz="2600" b="1" dirty="0">
              <a:solidFill>
                <a:srgbClr val="474646"/>
              </a:solidFill>
              <a:latin typeface="Nunito"/>
              <a:ea typeface="+mn-lt"/>
              <a:cs typeface="+mn-lt"/>
            </a:endParaRPr>
          </a:p>
          <a:p>
            <a:pPr algn="just"/>
            <a:r>
              <a:rPr lang="en-US" sz="2600" b="1">
                <a:solidFill>
                  <a:srgbClr val="474646"/>
                </a:solidFill>
                <a:latin typeface="Nunito"/>
                <a:ea typeface="+mn-lt"/>
                <a:cs typeface="+mn-lt"/>
              </a:rPr>
              <a:t>3.</a:t>
            </a:r>
            <a:r>
              <a:rPr lang="en-US" sz="2600" b="1">
                <a:solidFill>
                  <a:srgbClr val="474646"/>
                </a:solidFill>
                <a:latin typeface="Nunito"/>
                <a:ea typeface="+mn-lt"/>
                <a:cs typeface="+mn-lt"/>
                <a:sym typeface="Nunito"/>
              </a:rPr>
              <a:t>Vehicle Age:</a:t>
            </a:r>
            <a:endParaRPr lang="en-US" sz="2600" b="1">
              <a:solidFill>
                <a:srgbClr val="474646"/>
              </a:solidFill>
              <a:latin typeface="Nunito"/>
            </a:endParaRPr>
          </a:p>
          <a:p>
            <a:pPr algn="just"/>
            <a:r>
              <a:rPr lang="en-US" sz="2600" b="1">
                <a:solidFill>
                  <a:srgbClr val="474646"/>
                </a:solidFill>
                <a:latin typeface="Nunito"/>
                <a:ea typeface="+mn-lt"/>
                <a:cs typeface="+mn-lt"/>
                <a:sym typeface="Nunito"/>
              </a:rPr>
              <a:t>Newer vehicles generally have higher resale values than older vehicles.</a:t>
            </a:r>
            <a:endParaRPr lang="en-US" sz="2600" b="1">
              <a:solidFill>
                <a:srgbClr val="474646"/>
              </a:solidFill>
              <a:latin typeface="Nunito"/>
              <a:ea typeface="Calibri"/>
              <a:cs typeface="Calibri"/>
            </a:endParaRPr>
          </a:p>
          <a:p>
            <a:pPr algn="just"/>
            <a:endParaRPr lang="en-US" sz="2600" b="1" dirty="0">
              <a:solidFill>
                <a:srgbClr val="474646"/>
              </a:solidFill>
              <a:latin typeface="Nunito"/>
              <a:ea typeface="+mn-lt"/>
              <a:cs typeface="+mn-lt"/>
            </a:endParaRPr>
          </a:p>
          <a:p>
            <a:pPr algn="just"/>
            <a:r>
              <a:rPr lang="en-US" sz="2600" b="1">
                <a:solidFill>
                  <a:srgbClr val="474646"/>
                </a:solidFill>
                <a:latin typeface="Nunito"/>
                <a:ea typeface="+mn-lt"/>
                <a:cs typeface="+mn-lt"/>
                <a:sym typeface="Nunito"/>
              </a:rPr>
              <a:t>4.Usage:</a:t>
            </a:r>
            <a:endParaRPr lang="en-US" sz="2600" b="1">
              <a:solidFill>
                <a:srgbClr val="474646"/>
              </a:solidFill>
              <a:latin typeface="Nunito"/>
            </a:endParaRPr>
          </a:p>
          <a:p>
            <a:pPr algn="just"/>
            <a:r>
              <a:rPr lang="en-US" sz="2600" b="1">
                <a:solidFill>
                  <a:srgbClr val="474646"/>
                </a:solidFill>
                <a:latin typeface="Nunito"/>
                <a:ea typeface="+mn-lt"/>
                <a:cs typeface="+mn-lt"/>
                <a:sym typeface="Nunito"/>
              </a:rPr>
              <a:t>Cars with higher kilometers driven generally tend to have lower resale values.</a:t>
            </a:r>
            <a:endParaRPr lang="en-US" sz="2600" b="1">
              <a:solidFill>
                <a:srgbClr val="474646"/>
              </a:solidFill>
              <a:latin typeface="Nunito"/>
              <a:ea typeface="Calibri"/>
              <a:cs typeface="Calibri"/>
            </a:endParaRPr>
          </a:p>
          <a:p>
            <a:pPr algn="just"/>
            <a:endParaRPr lang="en-US" sz="2600" b="1" dirty="0">
              <a:solidFill>
                <a:srgbClr val="474646"/>
              </a:solidFill>
              <a:latin typeface="Nunito"/>
              <a:ea typeface="+mn-lt"/>
              <a:cs typeface="+mn-lt"/>
            </a:endParaRPr>
          </a:p>
          <a:p>
            <a:pPr algn="just"/>
            <a:r>
              <a:rPr lang="en-US" sz="2600" b="1">
                <a:solidFill>
                  <a:srgbClr val="474646"/>
                </a:solidFill>
                <a:latin typeface="Nunito"/>
                <a:ea typeface="+mn-lt"/>
                <a:cs typeface="+mn-lt"/>
                <a:sym typeface="Nunito"/>
              </a:rPr>
              <a:t>5.Transmission:</a:t>
            </a:r>
            <a:endParaRPr lang="en-US" sz="2600" b="1">
              <a:solidFill>
                <a:srgbClr val="474646"/>
              </a:solidFill>
              <a:latin typeface="Nunito"/>
            </a:endParaRPr>
          </a:p>
          <a:p>
            <a:pPr algn="just"/>
            <a:r>
              <a:rPr lang="en-US" sz="2600" b="1">
                <a:solidFill>
                  <a:srgbClr val="474646"/>
                </a:solidFill>
                <a:latin typeface="Nunito"/>
                <a:ea typeface="+mn-lt"/>
                <a:cs typeface="+mn-lt"/>
                <a:sym typeface="Nunito"/>
              </a:rPr>
              <a:t>Automatic cars have a higher average selling price than manual cars in the dataset.</a:t>
            </a:r>
            <a:endParaRPr lang="en-US" sz="2600" b="1">
              <a:solidFill>
                <a:srgbClr val="474646"/>
              </a:solidFill>
              <a:latin typeface="Nunito"/>
            </a:endParaRPr>
          </a:p>
          <a:p>
            <a:pPr algn="ctr">
              <a:lnSpc>
                <a:spcPts val="3919"/>
              </a:lnSpc>
            </a:pPr>
            <a:endParaRPr lang="en-US" sz="2750" dirty="0">
              <a:solidFill>
                <a:srgbClr val="000000"/>
              </a:solidFill>
              <a:latin typeface="Nunito"/>
              <a:ea typeface="Nunito"/>
              <a:cs typeface="Nunit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a:extLst>
            <a:ext uri="{FF2B5EF4-FFF2-40B4-BE49-F238E27FC236}">
              <a16:creationId xmlns:a16="http://schemas.microsoft.com/office/drawing/2014/main" id="{3AA4EA4B-E72A-52BD-E649-14716FD1A93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DFC0F04-8C16-FD9D-49BC-3BDF0798EB50}"/>
              </a:ext>
            </a:extLst>
          </p:cNvPr>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8BD95277-D09B-FB54-7A45-BDD68823B297}"/>
              </a:ext>
            </a:extLst>
          </p:cNvPr>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TextBox 4">
            <a:extLst>
              <a:ext uri="{FF2B5EF4-FFF2-40B4-BE49-F238E27FC236}">
                <a16:creationId xmlns:a16="http://schemas.microsoft.com/office/drawing/2014/main" id="{D655DB7A-660E-0A0C-7DC6-2AFED508F414}"/>
              </a:ext>
            </a:extLst>
          </p:cNvPr>
          <p:cNvSpPr txBox="1"/>
          <p:nvPr/>
        </p:nvSpPr>
        <p:spPr>
          <a:xfrm>
            <a:off x="2538123" y="800607"/>
            <a:ext cx="13211751" cy="1469248"/>
          </a:xfrm>
          <a:prstGeom prst="rect">
            <a:avLst/>
          </a:prstGeom>
        </p:spPr>
        <p:txBody>
          <a:bodyPr wrap="square" lIns="0" tIns="0" rIns="0" bIns="0" rtlCol="0" anchor="t">
            <a:spAutoFit/>
          </a:bodyPr>
          <a:lstStyle/>
          <a:p>
            <a:pPr algn="ctr">
              <a:lnSpc>
                <a:spcPts val="12599"/>
              </a:lnSpc>
            </a:pPr>
            <a:r>
              <a:rPr lang="en-US" sz="9000" b="1">
                <a:solidFill>
                  <a:srgbClr val="474646"/>
                </a:solidFill>
                <a:latin typeface="Proxima Nova Bold"/>
                <a:ea typeface="Proxima Nova Bold"/>
                <a:cs typeface="Proxima Nova Bold"/>
              </a:rPr>
              <a:t>CONCLUSION</a:t>
            </a:r>
            <a:endParaRPr lang="en-US" sz="9000" b="1" dirty="0">
              <a:solidFill>
                <a:srgbClr val="474646"/>
              </a:solidFill>
              <a:latin typeface="Proxima Nova Bold"/>
              <a:ea typeface="Proxima Nova Bold"/>
              <a:cs typeface="Proxima Nova Bold"/>
            </a:endParaRPr>
          </a:p>
        </p:txBody>
      </p:sp>
      <p:sp>
        <p:nvSpPr>
          <p:cNvPr id="5" name="TextBox 5">
            <a:extLst>
              <a:ext uri="{FF2B5EF4-FFF2-40B4-BE49-F238E27FC236}">
                <a16:creationId xmlns:a16="http://schemas.microsoft.com/office/drawing/2014/main" id="{DBDF0238-41A2-1F95-DFBE-6B6F40856B57}"/>
              </a:ext>
            </a:extLst>
          </p:cNvPr>
          <p:cNvSpPr txBox="1"/>
          <p:nvPr/>
        </p:nvSpPr>
        <p:spPr>
          <a:xfrm>
            <a:off x="2204149" y="2571804"/>
            <a:ext cx="13874533" cy="7396256"/>
          </a:xfrm>
          <a:prstGeom prst="rect">
            <a:avLst/>
          </a:prstGeom>
        </p:spPr>
        <p:txBody>
          <a:bodyPr wrap="square" lIns="0" tIns="0" rIns="0" bIns="0" rtlCol="0" anchor="t">
            <a:spAutoFit/>
          </a:bodyPr>
          <a:lstStyle/>
          <a:p>
            <a:pPr marL="457200" indent="-457200" algn="just">
              <a:buFont typeface="Arial"/>
              <a:buChar char="•"/>
            </a:pPr>
            <a:r>
              <a:rPr lang="en-US" sz="2500" b="1" dirty="0">
                <a:solidFill>
                  <a:srgbClr val="474646"/>
                </a:solidFill>
                <a:latin typeface="Nunito"/>
                <a:ea typeface="+mn-lt"/>
                <a:cs typeface="+mn-lt"/>
              </a:rPr>
              <a:t>This project analyzed the </a:t>
            </a:r>
            <a:r>
              <a:rPr lang="en-US" sz="2500" b="1" dirty="0" err="1">
                <a:solidFill>
                  <a:srgbClr val="474646"/>
                </a:solidFill>
                <a:latin typeface="Nunito"/>
                <a:ea typeface="+mn-lt"/>
                <a:cs typeface="+mn-lt"/>
              </a:rPr>
              <a:t>CarDekho</a:t>
            </a:r>
            <a:r>
              <a:rPr lang="en-US" sz="2500" b="1" dirty="0">
                <a:solidFill>
                  <a:srgbClr val="474646"/>
                </a:solidFill>
                <a:latin typeface="Nunito"/>
                <a:ea typeface="+mn-lt"/>
                <a:cs typeface="+mn-lt"/>
              </a:rPr>
              <a:t> used-car dataset to understand the major factors that influence the selling price of vehicles. The dataset was first cleaned by checking for missing values, duplicate records, and data types, ensuring that the data was suitable for further analysis.</a:t>
            </a:r>
            <a:endParaRPr lang="en-US" sz="2500" b="1">
              <a:solidFill>
                <a:srgbClr val="474646"/>
              </a:solidFill>
              <a:latin typeface="Nunito"/>
            </a:endParaRPr>
          </a:p>
          <a:p>
            <a:pPr marL="457200" indent="-457200" algn="just">
              <a:buFont typeface="Arial"/>
              <a:buChar char="•"/>
            </a:pPr>
            <a:endParaRPr lang="en-US" sz="2500" b="1" dirty="0">
              <a:solidFill>
                <a:srgbClr val="474646"/>
              </a:solidFill>
              <a:latin typeface="Nunito"/>
              <a:ea typeface="+mn-lt"/>
              <a:cs typeface="+mn-lt"/>
            </a:endParaRPr>
          </a:p>
          <a:p>
            <a:pPr marL="457200" indent="-457200" algn="just">
              <a:buFont typeface="Arial"/>
              <a:buChar char="•"/>
            </a:pPr>
            <a:r>
              <a:rPr lang="en-US" sz="2500" b="1">
                <a:solidFill>
                  <a:srgbClr val="474646"/>
                </a:solidFill>
                <a:latin typeface="Nunito"/>
                <a:ea typeface="+mn-lt"/>
                <a:cs typeface="+mn-lt"/>
              </a:rPr>
              <a:t>Exploratory Data Analysis and different visualization techniques were then used to study fuel type, manufacturing year, car age, kilometers driven, transmission, seller type, and car models. The visualizations helped identify pricing patterns and differences between various categories of used cars.</a:t>
            </a:r>
            <a:endParaRPr lang="en-US" sz="2500" b="1" dirty="0">
              <a:solidFill>
                <a:srgbClr val="474646"/>
              </a:solidFill>
              <a:latin typeface="Nunito"/>
              <a:ea typeface="Calibri"/>
              <a:cs typeface="Calibri"/>
            </a:endParaRPr>
          </a:p>
          <a:p>
            <a:pPr marL="457200" indent="-457200" algn="just">
              <a:buFont typeface="Arial"/>
              <a:buChar char="•"/>
            </a:pPr>
            <a:endParaRPr lang="en-US" sz="2500" b="1" dirty="0">
              <a:solidFill>
                <a:srgbClr val="474646"/>
              </a:solidFill>
              <a:latin typeface="Nunito"/>
              <a:ea typeface="+mn-lt"/>
              <a:cs typeface="+mn-lt"/>
            </a:endParaRPr>
          </a:p>
          <a:p>
            <a:pPr marL="457200" indent="-457200" algn="just">
              <a:buFont typeface="Arial"/>
              <a:buChar char="•"/>
            </a:pPr>
            <a:r>
              <a:rPr lang="en-US" sz="2500" b="1">
                <a:solidFill>
                  <a:srgbClr val="474646"/>
                </a:solidFill>
                <a:latin typeface="Nunito"/>
                <a:ea typeface="+mn-lt"/>
                <a:cs typeface="+mn-lt"/>
              </a:rPr>
              <a:t>The analysis provides a better understanding of how different vehicle characteristics are associated with resale prices. These insights can be useful for buyers when comparing vehicles, sellers when deciding a suitable price, dealers when managing their inventory, and businesses when studying market trends.</a:t>
            </a:r>
            <a:endParaRPr lang="en-US" sz="2500" b="1">
              <a:solidFill>
                <a:srgbClr val="474646"/>
              </a:solidFill>
              <a:latin typeface="Nunito"/>
            </a:endParaRPr>
          </a:p>
          <a:p>
            <a:pPr marL="457200" indent="-457200" algn="just">
              <a:buFont typeface="Arial"/>
              <a:buChar char="•"/>
            </a:pPr>
            <a:endParaRPr lang="en-US" sz="2500" b="1" dirty="0">
              <a:solidFill>
                <a:srgbClr val="474646"/>
              </a:solidFill>
              <a:latin typeface="Nunito"/>
              <a:ea typeface="+mn-lt"/>
              <a:cs typeface="+mn-lt"/>
            </a:endParaRPr>
          </a:p>
          <a:p>
            <a:pPr marL="457200" indent="-457200" algn="just">
              <a:buFont typeface="Arial"/>
              <a:buChar char="•"/>
            </a:pPr>
            <a:r>
              <a:rPr lang="en-US" sz="2500" b="1">
                <a:solidFill>
                  <a:srgbClr val="474646"/>
                </a:solidFill>
                <a:latin typeface="Nunito"/>
                <a:ea typeface="+mn-lt"/>
                <a:cs typeface="+mn-lt"/>
              </a:rPr>
              <a:t>Overall, the project demonstrates how data cleaning, exploratory analysis, and visualization can transform raw used-car data into meaningful and easy-to-understand insights, supporting better decision-making in the used-car market.</a:t>
            </a:r>
            <a:endParaRPr lang="en-US" sz="2500" b="1">
              <a:solidFill>
                <a:srgbClr val="474646"/>
              </a:solidFill>
              <a:latin typeface="Nunito"/>
            </a:endParaRPr>
          </a:p>
          <a:p>
            <a:pPr algn="just">
              <a:lnSpc>
                <a:spcPts val="3919"/>
              </a:lnSpc>
            </a:pPr>
            <a:endParaRPr lang="en-US" sz="2500" b="1" dirty="0">
              <a:latin typeface="Nunito"/>
              <a:ea typeface="Calibri"/>
              <a:cs typeface="Calibri"/>
            </a:endParaRPr>
          </a:p>
        </p:txBody>
      </p:sp>
      <p:sp>
        <p:nvSpPr>
          <p:cNvPr id="6" name="Freeform 6">
            <a:extLst>
              <a:ext uri="{FF2B5EF4-FFF2-40B4-BE49-F238E27FC236}">
                <a16:creationId xmlns:a16="http://schemas.microsoft.com/office/drawing/2014/main" id="{B2EE8972-9B4E-9BF2-A8CB-672DF8B1CACC}"/>
              </a:ext>
            </a:extLst>
          </p:cNvPr>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a:extLst>
              <a:ext uri="{FF2B5EF4-FFF2-40B4-BE49-F238E27FC236}">
                <a16:creationId xmlns:a16="http://schemas.microsoft.com/office/drawing/2014/main" id="{3634ECBF-1976-FF07-2BC7-8C7DC91D4D33}"/>
              </a:ext>
            </a:extLst>
          </p:cNvPr>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8" name="Group 8">
            <a:extLst>
              <a:ext uri="{FF2B5EF4-FFF2-40B4-BE49-F238E27FC236}">
                <a16:creationId xmlns:a16="http://schemas.microsoft.com/office/drawing/2014/main" id="{23F4A3E3-0AB2-58BF-D0DB-FA81C5841F23}"/>
              </a:ext>
            </a:extLst>
          </p:cNvPr>
          <p:cNvGrpSpPr/>
          <p:nvPr/>
        </p:nvGrpSpPr>
        <p:grpSpPr>
          <a:xfrm>
            <a:off x="12319137" y="9258300"/>
            <a:ext cx="3911463" cy="3911463"/>
            <a:chOff x="0" y="0"/>
            <a:chExt cx="812800" cy="812800"/>
          </a:xfrm>
        </p:grpSpPr>
        <p:sp>
          <p:nvSpPr>
            <p:cNvPr id="9" name="Freeform 9">
              <a:extLst>
                <a:ext uri="{FF2B5EF4-FFF2-40B4-BE49-F238E27FC236}">
                  <a16:creationId xmlns:a16="http://schemas.microsoft.com/office/drawing/2014/main" id="{77380191-752D-710D-AB21-0F06D3EF8CD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0" name="TextBox 10">
              <a:extLst>
                <a:ext uri="{FF2B5EF4-FFF2-40B4-BE49-F238E27FC236}">
                  <a16:creationId xmlns:a16="http://schemas.microsoft.com/office/drawing/2014/main" id="{51B12AE8-BD12-D3DD-96BB-F281F42A25D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a:extLst>
              <a:ext uri="{FF2B5EF4-FFF2-40B4-BE49-F238E27FC236}">
                <a16:creationId xmlns:a16="http://schemas.microsoft.com/office/drawing/2014/main" id="{C683D85F-38E9-0D0E-61DC-4803FAE7A853}"/>
              </a:ext>
            </a:extLst>
          </p:cNvPr>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2" name="Freeform 12">
            <a:extLst>
              <a:ext uri="{FF2B5EF4-FFF2-40B4-BE49-F238E27FC236}">
                <a16:creationId xmlns:a16="http://schemas.microsoft.com/office/drawing/2014/main" id="{734823B3-2937-AE4A-6829-73BA9DD91226}"/>
              </a:ext>
            </a:extLst>
          </p:cNvPr>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3" name="Group 13">
            <a:extLst>
              <a:ext uri="{FF2B5EF4-FFF2-40B4-BE49-F238E27FC236}">
                <a16:creationId xmlns:a16="http://schemas.microsoft.com/office/drawing/2014/main" id="{4114F7EE-A901-860E-E194-DAAFFC17203D}"/>
              </a:ext>
            </a:extLst>
          </p:cNvPr>
          <p:cNvGrpSpPr/>
          <p:nvPr/>
        </p:nvGrpSpPr>
        <p:grpSpPr>
          <a:xfrm>
            <a:off x="2129385" y="-2859528"/>
            <a:ext cx="3911463" cy="3911463"/>
            <a:chOff x="0" y="0"/>
            <a:chExt cx="812800" cy="812800"/>
          </a:xfrm>
        </p:grpSpPr>
        <p:sp>
          <p:nvSpPr>
            <p:cNvPr id="14" name="Freeform 14">
              <a:extLst>
                <a:ext uri="{FF2B5EF4-FFF2-40B4-BE49-F238E27FC236}">
                  <a16:creationId xmlns:a16="http://schemas.microsoft.com/office/drawing/2014/main" id="{E6DCD38A-2295-7986-4BB9-1077A6B0503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5" name="TextBox 15">
              <a:extLst>
                <a:ext uri="{FF2B5EF4-FFF2-40B4-BE49-F238E27FC236}">
                  <a16:creationId xmlns:a16="http://schemas.microsoft.com/office/drawing/2014/main" id="{80AD4532-40D4-5E5B-7EDB-81827D6CEE1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extLst>
      <p:ext uri="{BB962C8B-B14F-4D97-AF65-F5344CB8AC3E}">
        <p14:creationId xmlns:p14="http://schemas.microsoft.com/office/powerpoint/2010/main" val="2078208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a:extLst>
            <a:ext uri="{FF2B5EF4-FFF2-40B4-BE49-F238E27FC236}">
              <a16:creationId xmlns:a16="http://schemas.microsoft.com/office/drawing/2014/main" id="{BFBFA8DD-AAC3-4022-9141-3019D4A76A1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6864608-5AA7-BC51-AFB2-3E284E99CE38}"/>
              </a:ext>
            </a:extLst>
          </p:cNvPr>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632C0DE2-8511-D897-D91E-5FFB4B6FC9E8}"/>
              </a:ext>
            </a:extLst>
          </p:cNvPr>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TextBox 4">
            <a:extLst>
              <a:ext uri="{FF2B5EF4-FFF2-40B4-BE49-F238E27FC236}">
                <a16:creationId xmlns:a16="http://schemas.microsoft.com/office/drawing/2014/main" id="{FE88F3F4-8AE2-6354-CB28-1245DBA15FAE}"/>
              </a:ext>
            </a:extLst>
          </p:cNvPr>
          <p:cNvSpPr txBox="1"/>
          <p:nvPr/>
        </p:nvSpPr>
        <p:spPr>
          <a:xfrm>
            <a:off x="2538123" y="800607"/>
            <a:ext cx="13211751" cy="1469248"/>
          </a:xfrm>
          <a:prstGeom prst="rect">
            <a:avLst/>
          </a:prstGeom>
        </p:spPr>
        <p:txBody>
          <a:bodyPr wrap="square" lIns="0" tIns="0" rIns="0" bIns="0" rtlCol="0" anchor="t">
            <a:spAutoFit/>
          </a:bodyPr>
          <a:lstStyle/>
          <a:p>
            <a:pPr algn="ctr">
              <a:lnSpc>
                <a:spcPts val="12599"/>
              </a:lnSpc>
            </a:pPr>
            <a:r>
              <a:rPr lang="en-US" sz="9000" b="1">
                <a:solidFill>
                  <a:srgbClr val="474646"/>
                </a:solidFill>
                <a:latin typeface="Proxima Nova Bold"/>
                <a:ea typeface="Proxima Nova Bold"/>
                <a:cs typeface="Proxima Nova Bold"/>
              </a:rPr>
              <a:t>PROJECT DEMO</a:t>
            </a:r>
            <a:endParaRPr lang="en-US" sz="9000" b="1" dirty="0">
              <a:solidFill>
                <a:srgbClr val="474646"/>
              </a:solidFill>
              <a:latin typeface="Proxima Nova Bold"/>
              <a:ea typeface="Proxima Nova Bold"/>
              <a:cs typeface="Proxima Nova Bold"/>
            </a:endParaRPr>
          </a:p>
        </p:txBody>
      </p:sp>
      <p:sp>
        <p:nvSpPr>
          <p:cNvPr id="6" name="Freeform 6">
            <a:extLst>
              <a:ext uri="{FF2B5EF4-FFF2-40B4-BE49-F238E27FC236}">
                <a16:creationId xmlns:a16="http://schemas.microsoft.com/office/drawing/2014/main" id="{4DB7568D-DCB0-252A-A4E7-9282860E5D93}"/>
              </a:ext>
            </a:extLst>
          </p:cNvPr>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a:extLst>
              <a:ext uri="{FF2B5EF4-FFF2-40B4-BE49-F238E27FC236}">
                <a16:creationId xmlns:a16="http://schemas.microsoft.com/office/drawing/2014/main" id="{6F43725F-F11C-BB16-A0AA-FE7ADF1855D3}"/>
              </a:ext>
            </a:extLst>
          </p:cNvPr>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8" name="Group 8">
            <a:extLst>
              <a:ext uri="{FF2B5EF4-FFF2-40B4-BE49-F238E27FC236}">
                <a16:creationId xmlns:a16="http://schemas.microsoft.com/office/drawing/2014/main" id="{8DB84A95-74A1-CE2B-A8FB-DC5DA45004FF}"/>
              </a:ext>
            </a:extLst>
          </p:cNvPr>
          <p:cNvGrpSpPr/>
          <p:nvPr/>
        </p:nvGrpSpPr>
        <p:grpSpPr>
          <a:xfrm>
            <a:off x="12319137" y="9258300"/>
            <a:ext cx="3911463" cy="3911463"/>
            <a:chOff x="0" y="0"/>
            <a:chExt cx="812800" cy="812800"/>
          </a:xfrm>
        </p:grpSpPr>
        <p:sp>
          <p:nvSpPr>
            <p:cNvPr id="9" name="Freeform 9">
              <a:extLst>
                <a:ext uri="{FF2B5EF4-FFF2-40B4-BE49-F238E27FC236}">
                  <a16:creationId xmlns:a16="http://schemas.microsoft.com/office/drawing/2014/main" id="{FF8D8C2C-E45E-05ED-5C5D-E621186A5D4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0" name="TextBox 10">
              <a:extLst>
                <a:ext uri="{FF2B5EF4-FFF2-40B4-BE49-F238E27FC236}">
                  <a16:creationId xmlns:a16="http://schemas.microsoft.com/office/drawing/2014/main" id="{E3B82612-7BC6-8603-2FF9-9C47394ABA8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a:extLst>
              <a:ext uri="{FF2B5EF4-FFF2-40B4-BE49-F238E27FC236}">
                <a16:creationId xmlns:a16="http://schemas.microsoft.com/office/drawing/2014/main" id="{F75B8A9A-0169-8C48-A04C-EA3F3FA94292}"/>
              </a:ext>
            </a:extLst>
          </p:cNvPr>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2" name="Freeform 12">
            <a:extLst>
              <a:ext uri="{FF2B5EF4-FFF2-40B4-BE49-F238E27FC236}">
                <a16:creationId xmlns:a16="http://schemas.microsoft.com/office/drawing/2014/main" id="{C8F7DD8F-7B09-02F5-0A29-326719368ED6}"/>
              </a:ext>
            </a:extLst>
          </p:cNvPr>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3" name="Group 13">
            <a:extLst>
              <a:ext uri="{FF2B5EF4-FFF2-40B4-BE49-F238E27FC236}">
                <a16:creationId xmlns:a16="http://schemas.microsoft.com/office/drawing/2014/main" id="{CD2E611A-2A10-5D66-92E2-6B93536153CC}"/>
              </a:ext>
            </a:extLst>
          </p:cNvPr>
          <p:cNvGrpSpPr/>
          <p:nvPr/>
        </p:nvGrpSpPr>
        <p:grpSpPr>
          <a:xfrm>
            <a:off x="2129385" y="-2859528"/>
            <a:ext cx="3911463" cy="3911463"/>
            <a:chOff x="0" y="0"/>
            <a:chExt cx="812800" cy="812800"/>
          </a:xfrm>
        </p:grpSpPr>
        <p:sp>
          <p:nvSpPr>
            <p:cNvPr id="14" name="Freeform 14">
              <a:extLst>
                <a:ext uri="{FF2B5EF4-FFF2-40B4-BE49-F238E27FC236}">
                  <a16:creationId xmlns:a16="http://schemas.microsoft.com/office/drawing/2014/main" id="{407D12A3-10D9-F900-8938-861389AC6C7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5" name="TextBox 15">
              <a:extLst>
                <a:ext uri="{FF2B5EF4-FFF2-40B4-BE49-F238E27FC236}">
                  <a16:creationId xmlns:a16="http://schemas.microsoft.com/office/drawing/2014/main" id="{262FBCF0-8E51-BC47-D68F-E3AFB0B1F68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pic>
        <p:nvPicPr>
          <p:cNvPr id="16" name="Picture 15">
            <a:extLst>
              <a:ext uri="{FF2B5EF4-FFF2-40B4-BE49-F238E27FC236}">
                <a16:creationId xmlns:a16="http://schemas.microsoft.com/office/drawing/2014/main" id="{D8D276DE-F489-892B-4CEE-CCC97F2A672B}"/>
              </a:ext>
            </a:extLst>
          </p:cNvPr>
          <p:cNvPicPr>
            <a:picLocks noChangeAspect="1"/>
          </p:cNvPicPr>
          <p:nvPr/>
        </p:nvPicPr>
        <p:blipFill>
          <a:blip r:embed="rId3"/>
          <a:stretch>
            <a:fillRect/>
          </a:stretch>
        </p:blipFill>
        <p:spPr>
          <a:xfrm>
            <a:off x="3474720" y="3804465"/>
            <a:ext cx="11338560" cy="6033917"/>
          </a:xfrm>
          <a:prstGeom prst="rect">
            <a:avLst/>
          </a:prstGeom>
        </p:spPr>
      </p:pic>
      <p:sp>
        <p:nvSpPr>
          <p:cNvPr id="17" name="TextBox 16">
            <a:extLst>
              <a:ext uri="{FF2B5EF4-FFF2-40B4-BE49-F238E27FC236}">
                <a16:creationId xmlns:a16="http://schemas.microsoft.com/office/drawing/2014/main" id="{97A51DC8-4F2E-3CD4-3B53-E95CDFA514AD}"/>
              </a:ext>
            </a:extLst>
          </p:cNvPr>
          <p:cNvSpPr txBox="1"/>
          <p:nvPr/>
        </p:nvSpPr>
        <p:spPr>
          <a:xfrm>
            <a:off x="2295144" y="2253996"/>
            <a:ext cx="13697712" cy="16158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700" b="1" dirty="0">
                <a:solidFill>
                  <a:srgbClr val="474646"/>
                </a:solidFill>
                <a:latin typeface="Nunito"/>
              </a:rPr>
              <a:t>Google </a:t>
            </a:r>
            <a:r>
              <a:rPr lang="en-US" sz="2700" b="1" dirty="0" err="1">
                <a:solidFill>
                  <a:srgbClr val="474646"/>
                </a:solidFill>
                <a:latin typeface="Nunito"/>
              </a:rPr>
              <a:t>Colab</a:t>
            </a:r>
            <a:r>
              <a:rPr lang="en-US" sz="2700" b="1" dirty="0">
                <a:solidFill>
                  <a:srgbClr val="474646"/>
                </a:solidFill>
                <a:latin typeface="Nunito"/>
              </a:rPr>
              <a:t> Demo:</a:t>
            </a:r>
            <a:endParaRPr lang="en-US" dirty="0">
              <a:solidFill>
                <a:srgbClr val="474646"/>
              </a:solidFill>
              <a:latin typeface="Calibri"/>
              <a:ea typeface="Calibri"/>
              <a:cs typeface="Calibri"/>
            </a:endParaRPr>
          </a:p>
          <a:p>
            <a:pPr algn="ctr"/>
            <a:r>
              <a:rPr lang="en-US" sz="2700" i="1">
                <a:solidFill>
                  <a:srgbClr val="474646"/>
                </a:solidFill>
                <a:latin typeface="Nunito"/>
              </a:rPr>
              <a:t>Use the link to view the complete project.</a:t>
            </a:r>
            <a:endParaRPr lang="en-US">
              <a:solidFill>
                <a:srgbClr val="474646"/>
              </a:solidFill>
              <a:ea typeface="Calibri"/>
              <a:cs typeface="Calibri"/>
            </a:endParaRPr>
          </a:p>
          <a:p>
            <a:pPr algn="just"/>
            <a:r>
              <a:rPr lang="en-US" sz="2700" dirty="0">
                <a:ea typeface="+mn-lt"/>
                <a:cs typeface="+mn-lt"/>
                <a:hlinkClick r:id="rId4"/>
              </a:rPr>
              <a:t>https://colab.research.google.com/drive/1X3w5meFC9RS5fi0a3PGsbcmUGJ22le5m?usp=sharing</a:t>
            </a:r>
            <a:endParaRPr lang="en-US" dirty="0"/>
          </a:p>
          <a:p>
            <a:pPr algn="ctr"/>
            <a:endParaRPr lang="en-US">
              <a:ea typeface="Calibri"/>
              <a:cs typeface="Calibri"/>
            </a:endParaRPr>
          </a:p>
        </p:txBody>
      </p:sp>
    </p:spTree>
    <p:extLst>
      <p:ext uri="{BB962C8B-B14F-4D97-AF65-F5344CB8AC3E}">
        <p14:creationId xmlns:p14="http://schemas.microsoft.com/office/powerpoint/2010/main" val="13704217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12319137" y="9258300"/>
            <a:ext cx="3911463" cy="391146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Freeform 10"/>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2129385" y="-2859528"/>
            <a:ext cx="3911463" cy="3911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4420433" y="2911887"/>
            <a:ext cx="9447921" cy="4454809"/>
          </a:xfrm>
          <a:prstGeom prst="rect">
            <a:avLst/>
          </a:prstGeom>
        </p:spPr>
        <p:txBody>
          <a:bodyPr wrap="square" lIns="0" tIns="0" rIns="0" bIns="0" rtlCol="0" anchor="t">
            <a:spAutoFit/>
          </a:bodyPr>
          <a:lstStyle/>
          <a:p>
            <a:pPr algn="ctr">
              <a:lnSpc>
                <a:spcPts val="18199"/>
              </a:lnSpc>
            </a:pPr>
            <a:r>
              <a:rPr lang="en-US" sz="12950" b="1">
                <a:solidFill>
                  <a:srgbClr val="474646"/>
                </a:solidFill>
                <a:latin typeface="Proxima Nova Bold"/>
                <a:ea typeface="Proxima Nova Bold"/>
                <a:cs typeface="Proxima Nova Bold"/>
                <a:sym typeface="Proxima Nova Bold"/>
              </a:rPr>
              <a:t>THANK YOU!</a:t>
            </a:r>
            <a:endParaRPr lang="en-US" sz="12950" b="1">
              <a:solidFill>
                <a:srgbClr val="474646"/>
              </a:solidFill>
              <a:latin typeface="Proxima Nova Bold"/>
              <a:ea typeface="Proxima Nova Bold"/>
              <a:cs typeface="Proxima Nova Bo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Grey Black Minimalist Simple Project Presentation</dc:title>
  <cp:revision>751</cp:revision>
  <dcterms:created xsi:type="dcterms:W3CDTF">2006-08-16T00:00:00Z</dcterms:created>
  <dcterms:modified xsi:type="dcterms:W3CDTF">2026-08-29T11:26:31Z</dcterms:modified>
  <dc:identifier>DAHTlQeFhBc</dc:identifier>
</cp:coreProperties>
</file>